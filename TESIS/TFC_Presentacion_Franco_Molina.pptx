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88" r:id="rId10"/>
    <p:sldId id="289" r:id="rId11"/>
    <p:sldId id="264" r:id="rId12"/>
    <p:sldId id="307" r:id="rId13"/>
    <p:sldId id="265" r:id="rId14"/>
    <p:sldId id="290" r:id="rId15"/>
    <p:sldId id="266" r:id="rId16"/>
    <p:sldId id="268" r:id="rId17"/>
    <p:sldId id="296" r:id="rId18"/>
    <p:sldId id="269" r:id="rId19"/>
    <p:sldId id="270" r:id="rId20"/>
    <p:sldId id="291" r:id="rId21"/>
    <p:sldId id="271" r:id="rId22"/>
    <p:sldId id="292" r:id="rId23"/>
    <p:sldId id="272" r:id="rId24"/>
    <p:sldId id="273" r:id="rId25"/>
    <p:sldId id="305" r:id="rId26"/>
    <p:sldId id="275" r:id="rId27"/>
    <p:sldId id="276" r:id="rId28"/>
    <p:sldId id="278" r:id="rId29"/>
    <p:sldId id="306" r:id="rId30"/>
    <p:sldId id="279" r:id="rId31"/>
    <p:sldId id="280" r:id="rId32"/>
    <p:sldId id="300" r:id="rId33"/>
    <p:sldId id="302" r:id="rId34"/>
    <p:sldId id="301" r:id="rId35"/>
    <p:sldId id="303" r:id="rId36"/>
    <p:sldId id="304" r:id="rId37"/>
    <p:sldId id="298" r:id="rId38"/>
    <p:sldId id="281" r:id="rId39"/>
    <p:sldId id="282" r:id="rId40"/>
    <p:sldId id="284" r:id="rId41"/>
    <p:sldId id="295" r:id="rId4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18" autoAdjust="0"/>
    <p:restoredTop sz="59953" autoAdjust="0"/>
  </p:normalViewPr>
  <p:slideViewPr>
    <p:cSldViewPr snapToGrid="0" snapToObjects="1">
      <p:cViewPr varScale="1">
        <p:scale>
          <a:sx n="90" d="100"/>
          <a:sy n="90" d="100"/>
        </p:scale>
        <p:origin x="2076" y="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2965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 smtClean="0"/>
              <a:t>Modelos ayudan a entender el cerebro y el cerebro entiende</a:t>
            </a:r>
            <a:r>
              <a:rPr lang="es-AR" baseline="0" dirty="0" smtClean="0"/>
              <a:t> los modelos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 smtClean="0"/>
              <a:t>pelea filosófica</a:t>
            </a:r>
          </a:p>
          <a:p>
            <a:endParaRPr lang="es-ES" dirty="0" smtClean="0"/>
          </a:p>
          <a:p>
            <a:r>
              <a:rPr lang="es-ES" dirty="0" smtClean="0"/>
              <a:t>Aristóteles alma vivía en el corazón </a:t>
            </a:r>
            <a:r>
              <a:rPr lang="es-ES" baseline="0" dirty="0" smtClean="0"/>
              <a:t> </a:t>
            </a:r>
            <a:r>
              <a:rPr lang="es-ES" dirty="0" smtClean="0"/>
              <a:t>cerebro radiador</a:t>
            </a:r>
            <a:r>
              <a:rPr lang="es-ES" baseline="0" dirty="0" smtClean="0"/>
              <a:t> (</a:t>
            </a:r>
            <a:r>
              <a:rPr lang="es-ES" dirty="0" smtClean="0"/>
              <a:t>enfriar la sangre caliente)</a:t>
            </a:r>
          </a:p>
          <a:p>
            <a:endParaRPr lang="es-ES" dirty="0" smtClean="0"/>
          </a:p>
          <a:p>
            <a:r>
              <a:rPr lang="es-ES" dirty="0" smtClean="0"/>
              <a:t>Hipócrates y</a:t>
            </a:r>
            <a:r>
              <a:rPr lang="es-ES" baseline="0" dirty="0" smtClean="0"/>
              <a:t> </a:t>
            </a:r>
            <a:r>
              <a:rPr lang="es-ES" dirty="0" smtClean="0"/>
              <a:t>Galeno</a:t>
            </a:r>
            <a:r>
              <a:rPr lang="es-ES" baseline="0" dirty="0" smtClean="0"/>
              <a:t> </a:t>
            </a:r>
            <a:r>
              <a:rPr lang="es-ES" dirty="0" smtClean="0"/>
              <a:t>funciones mentales cerebro</a:t>
            </a:r>
          </a:p>
          <a:p>
            <a:endParaRPr lang="es-ES" dirty="0" smtClean="0"/>
          </a:p>
          <a:p>
            <a:r>
              <a:rPr lang="es-ES" dirty="0" smtClean="0"/>
              <a:t>Recién en el siglo XVII, con Thomas Willis y sus ilustraciones anatómicas del cerebro, empezamos a tener una imagen más precisa de la estructura que intentamos entender.</a:t>
            </a:r>
          </a:p>
          <a:p>
            <a:endParaRPr lang="es-ES" dirty="0" smtClean="0"/>
          </a:p>
          <a:p>
            <a:endParaRPr lang="es-ES" dirty="0" smtClean="0"/>
          </a:p>
          <a:p>
            <a:r>
              <a:rPr lang="es-ES" dirty="0" smtClean="0"/>
              <a:t>Por un </a:t>
            </a:r>
            <a:r>
              <a:rPr lang="es-ES" dirty="0" err="1" smtClean="0"/>
              <a:t>lado,Santiago</a:t>
            </a:r>
            <a:r>
              <a:rPr lang="es-ES" dirty="0" smtClean="0"/>
              <a:t> Ramón y Cajal --- probablemente el </a:t>
            </a:r>
            <a:r>
              <a:rPr lang="es-ES" dirty="0" err="1" smtClean="0"/>
              <a:t>neurocientífico</a:t>
            </a:r>
            <a:r>
              <a:rPr lang="es-ES" dirty="0" smtClean="0"/>
              <a:t> </a:t>
            </a:r>
            <a:r>
              <a:rPr lang="es-ES" dirty="0" err="1" smtClean="0"/>
              <a:t>másimportante</a:t>
            </a:r>
            <a:r>
              <a:rPr lang="es-ES" dirty="0" smtClean="0"/>
              <a:t> de la historia --- estableció la </a:t>
            </a:r>
          </a:p>
          <a:p>
            <a:endParaRPr lang="es-ES" dirty="0" smtClean="0"/>
          </a:p>
          <a:p>
            <a:r>
              <a:rPr lang="es-ES" dirty="0" smtClean="0"/>
              <a:t>*doctrina de la neurona*: el sistema nervioso está compuesto por células individuales discretas que se comunican a través de sinapsis . Nobel en 1906. </a:t>
            </a:r>
          </a:p>
          <a:p>
            <a:endParaRPr lang="es-E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 smtClean="0"/>
              <a:t>neurona es la unidad básica de procesamiento del sistema nervioso</a:t>
            </a:r>
          </a:p>
          <a:p>
            <a:endParaRPr lang="es-ES" dirty="0" smtClean="0"/>
          </a:p>
          <a:p>
            <a:r>
              <a:rPr lang="es-ES" dirty="0" smtClean="0"/>
              <a:t>.Tiene cuatro partes principales: </a:t>
            </a:r>
          </a:p>
          <a:p>
            <a:endParaRPr lang="es-ES" dirty="0" smtClean="0"/>
          </a:p>
          <a:p>
            <a:r>
              <a:rPr lang="es-ES" dirty="0" smtClean="0"/>
              <a:t>el *soma* o cuerpo celular, que contiene el núcleo y la maquinaria metabólica</a:t>
            </a:r>
          </a:p>
          <a:p>
            <a:endParaRPr lang="es-ES" dirty="0" smtClean="0"/>
          </a:p>
          <a:p>
            <a:r>
              <a:rPr lang="es-ES" dirty="0" smtClean="0"/>
              <a:t>las *dendritas*, que son las ramificaciones que reciben señales de otras neuronas</a:t>
            </a:r>
          </a:p>
          <a:p>
            <a:endParaRPr lang="es-ES" dirty="0" smtClean="0"/>
          </a:p>
          <a:p>
            <a:r>
              <a:rPr lang="es-ES" dirty="0" smtClean="0"/>
              <a:t>el*axón*, que transmite señales hacia células </a:t>
            </a:r>
            <a:r>
              <a:rPr lang="es-ES" dirty="0" err="1" smtClean="0"/>
              <a:t>postsinápticas</a:t>
            </a:r>
            <a:r>
              <a:rPr lang="es-ES" dirty="0" smtClean="0"/>
              <a:t> que pueden estar a distancias considerables</a:t>
            </a:r>
          </a:p>
          <a:p>
            <a:endParaRPr lang="es-ES" dirty="0" smtClean="0"/>
          </a:p>
          <a:p>
            <a:r>
              <a:rPr lang="es-ES" dirty="0" smtClean="0"/>
              <a:t>y los *terminales sinápticos*, donde se libera el neurotransmisor para comunicarse con la neurona siguiente</a:t>
            </a:r>
          </a:p>
          <a:p>
            <a:endParaRPr lang="es-ES" dirty="0" smtClean="0"/>
          </a:p>
          <a:p>
            <a:r>
              <a:rPr lang="es-ES" dirty="0" smtClean="0"/>
              <a:t>Lo más importante de todo esto está en la membrana celular. En reposo, la membrana mantiene una diferencia de potencial de aproximadamente −70mV, con el interior de la célula negativo respecto al exterior. </a:t>
            </a:r>
          </a:p>
          <a:p>
            <a:endParaRPr lang="es-ES" dirty="0" smtClean="0"/>
          </a:p>
          <a:p>
            <a:r>
              <a:rPr lang="es-ES" dirty="0" smtClean="0"/>
              <a:t>Ese potencial de reposo, que se establece mediante canales iónicos y bombas que mantienen los gradientes de concentración, es como una batería biológica siempre cargada y lista para disparar en cuanto llegue la señal adecuada.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 smtClean="0"/>
              <a:t>¿Cómo se comunican entonces las neuronas? Mediante el potencial de acción, </a:t>
            </a:r>
          </a:p>
          <a:p>
            <a:endParaRPr lang="es-ES" dirty="0" smtClean="0"/>
          </a:p>
          <a:p>
            <a:r>
              <a:rPr lang="es-ES" dirty="0" smtClean="0"/>
              <a:t>que funciona bajo un principio conocido como "todo o nada". Es como un disparo: </a:t>
            </a:r>
          </a:p>
          <a:p>
            <a:r>
              <a:rPr lang="es-ES" dirty="0" smtClean="0"/>
              <a:t>o se genera con amplitud completa, o no se genera en absoluto. </a:t>
            </a:r>
          </a:p>
          <a:p>
            <a:endParaRPr lang="es-ES" dirty="0" smtClean="0"/>
          </a:p>
          <a:p>
            <a:r>
              <a:rPr lang="es-ES" dirty="0" smtClean="0"/>
              <a:t>La intensidad del estímulo se codifica no en la amplitud de cada disparo, sino en la *frecuencia* de disparo: más </a:t>
            </a:r>
            <a:r>
              <a:rPr lang="es-ES" dirty="0" err="1" smtClean="0"/>
              <a:t>frecuent</a:t>
            </a:r>
            <a:r>
              <a:rPr lang="es-ES" dirty="0" smtClean="0"/>
              <a:t> es cuanto más intenso el estímulo.</a:t>
            </a:r>
          </a:p>
          <a:p>
            <a:endParaRPr lang="es-ES" dirty="0" smtClean="0"/>
          </a:p>
          <a:p>
            <a:r>
              <a:rPr lang="es-ES" dirty="0" err="1" smtClean="0"/>
              <a:t>Hodgkin</a:t>
            </a:r>
            <a:r>
              <a:rPr lang="es-ES" dirty="0" smtClean="0"/>
              <a:t> y </a:t>
            </a:r>
            <a:r>
              <a:rPr lang="es-ES" dirty="0" err="1" smtClean="0"/>
              <a:t>Huxley</a:t>
            </a:r>
            <a:r>
              <a:rPr lang="es-ES" dirty="0" smtClean="0"/>
              <a:t>, a principios de los años 50, modelaron matemáticamente</a:t>
            </a:r>
            <a:r>
              <a:rPr lang="es-ES" baseline="0" dirty="0" smtClean="0"/>
              <a:t> </a:t>
            </a:r>
            <a:r>
              <a:rPr lang="es-ES" dirty="0" smtClean="0"/>
              <a:t>todo esto estudiando el axón gigante del calamar ---sí, del calamar, que tiene un axón tan grande que se le pueden insertar electrodos adentro.</a:t>
            </a:r>
          </a:p>
          <a:p>
            <a:endParaRPr lang="es-ES" dirty="0" smtClean="0"/>
          </a:p>
          <a:p>
            <a:r>
              <a:rPr lang="es-ES" dirty="0" smtClean="0"/>
              <a:t>El modelo que desarrollaron es un sistema de cuatro ecuaciones diferenciales acopladas que describe la dinámica del potencial de membrana en función de las conductancias de canales de sodio y potasio.</a:t>
            </a:r>
          </a:p>
          <a:p>
            <a:endParaRPr lang="es-ES" dirty="0" smtClean="0"/>
          </a:p>
          <a:p>
            <a:r>
              <a:rPr lang="es-ES" dirty="0" smtClean="0"/>
              <a:t>Les valió el Nobel en 1963 y sigue siendo referencia fundamental en neurociencia computacional, aunque su complejidad computacional lo hace muy costoso para simular redes grandes.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 smtClean="0"/>
              <a:t>más detallado biofísicamente </a:t>
            </a:r>
          </a:p>
          <a:p>
            <a:endParaRPr lang="es-ES" dirty="0" smtClean="0"/>
          </a:p>
          <a:p>
            <a:r>
              <a:rPr lang="es-ES" dirty="0" smtClean="0"/>
              <a:t>tasa en el otro, donde se promedia directamente la frecuencia de disparo de poblaciones enteras de neuronas</a:t>
            </a:r>
          </a:p>
          <a:p>
            <a:endParaRPr lang="es-ES" dirty="0" smtClean="0"/>
          </a:p>
          <a:p>
            <a:r>
              <a:rPr lang="es-ES" dirty="0" smtClean="0"/>
              <a:t>*integra-y-dispara*</a:t>
            </a:r>
            <a:r>
              <a:rPr lang="es-ES" baseline="0" dirty="0" smtClean="0"/>
              <a:t> </a:t>
            </a:r>
            <a:r>
              <a:rPr lang="es-ES" dirty="0" smtClean="0"/>
              <a:t> MVP neurociencia computacional  una sola ecuación diferencial </a:t>
            </a:r>
          </a:p>
          <a:p>
            <a:r>
              <a:rPr lang="es-ES" dirty="0" smtClean="0"/>
              <a:t>El potencial de membrana crece hasta alcanzar un umbral y luego dispara y se resetea,</a:t>
            </a:r>
          </a:p>
          <a:p>
            <a:endParaRPr lang="es-ES" dirty="0" smtClean="0"/>
          </a:p>
          <a:p>
            <a:r>
              <a:rPr lang="es-ES" dirty="0" smtClean="0"/>
              <a:t> codificando información en la frecuencia de esos disparos.</a:t>
            </a:r>
          </a:p>
          <a:p>
            <a:endParaRPr lang="es-E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 smtClean="0"/>
              <a:t>La información visual viaja desde la retina al*núcleo geniculado lateral* del tálamo, y de ahí a la **corteza visual primaria**, llamada V1. </a:t>
            </a:r>
          </a:p>
          <a:p>
            <a:endParaRPr lang="es-ES" dirty="0" smtClean="0"/>
          </a:p>
          <a:p>
            <a:r>
              <a:rPr lang="es-ES" dirty="0" smtClean="0"/>
              <a:t>En cada etapa se extraen características más complejas del estímulo, </a:t>
            </a:r>
          </a:p>
          <a:p>
            <a:endParaRPr lang="es-ES" dirty="0" smtClean="0"/>
          </a:p>
          <a:p>
            <a:r>
              <a:rPr lang="es-ES" dirty="0" smtClean="0"/>
              <a:t>LGN actúa como una </a:t>
            </a:r>
            <a:r>
              <a:rPr lang="es-ES" b="1" dirty="0" smtClean="0"/>
              <a:t>estación de relevo y procesamiento temprano</a:t>
            </a:r>
            <a:r>
              <a:rPr lang="es-ES" dirty="0" smtClean="0"/>
              <a:t>: organiza la información proveniente de la retina, mantiene separadas las señales de cada ojo y modula qué información se envía a la corteza.</a:t>
            </a:r>
          </a:p>
          <a:p>
            <a:endParaRPr lang="es-ES" dirty="0" smtClean="0"/>
          </a:p>
          <a:p>
            <a:r>
              <a:rPr lang="es-ES" dirty="0" err="1" smtClean="0"/>
              <a:t>Hubel</a:t>
            </a:r>
            <a:r>
              <a:rPr lang="es-ES" dirty="0" smtClean="0"/>
              <a:t> y </a:t>
            </a:r>
            <a:r>
              <a:rPr lang="es-ES" dirty="0" err="1" smtClean="0"/>
              <a:t>Wieselen</a:t>
            </a:r>
            <a:r>
              <a:rPr lang="es-ES" dirty="0" smtClean="0"/>
              <a:t> los años 50 y 60, es que las neuronas de V1 no son detectores de luz genéricos: responden selectivamente a **bordes con orientaciones específicas**. </a:t>
            </a:r>
          </a:p>
          <a:p>
            <a:endParaRPr lang="es-ES" dirty="0" smtClean="0"/>
          </a:p>
          <a:p>
            <a:r>
              <a:rPr lang="es-ES" dirty="0" smtClean="0"/>
              <a:t>Una neurona se activa fuertemente cuando le </a:t>
            </a:r>
            <a:r>
              <a:rPr lang="es-ES" dirty="0" err="1" smtClean="0"/>
              <a:t>mostrás</a:t>
            </a:r>
            <a:r>
              <a:rPr lang="es-ES" dirty="0" smtClean="0"/>
              <a:t> una línea vertical, pero no le importa nada una horizontal.</a:t>
            </a:r>
          </a:p>
          <a:p>
            <a:endParaRPr lang="es-ES" dirty="0" smtClean="0"/>
          </a:p>
          <a:p>
            <a:r>
              <a:rPr lang="es-ES" dirty="0" smtClean="0"/>
              <a:t>Nobel en 1981 por este descubrimiento, </a:t>
            </a:r>
          </a:p>
          <a:p>
            <a:endParaRPr lang="es-E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 smtClean="0"/>
              <a:t>Estas neuronas de V1 se organizan de manera muy elegante. </a:t>
            </a:r>
          </a:p>
          <a:p>
            <a:endParaRPr lang="es-ES" dirty="0" smtClean="0"/>
          </a:p>
          <a:p>
            <a:r>
              <a:rPr lang="es-ES" dirty="0" smtClean="0"/>
              <a:t>Las que comparten orientación preferida forman  *columnas de orientación* que atraviesan todas las capas corticales verticalmente, de entre 30 y 100 micrómetros de grosor. </a:t>
            </a:r>
          </a:p>
          <a:p>
            <a:endParaRPr lang="es-ES" dirty="0" smtClean="0"/>
          </a:p>
          <a:p>
            <a:r>
              <a:rPr lang="es-ES" dirty="0" smtClean="0"/>
              <a:t>Un recorrido tangencial a través de la corteza encuentra secuencialmente todas las orientaciones posibles. </a:t>
            </a:r>
          </a:p>
          <a:p>
            <a:endParaRPr lang="es-ES" dirty="0" smtClean="0"/>
          </a:p>
          <a:p>
            <a:r>
              <a:rPr lang="es-ES" dirty="0" smtClean="0"/>
              <a:t>El conjunto completo de columnas para todas las orientaciones posibles, junto con las columnas de dominancia ocular --- que alternan el predominio del ojo izquierdo y el derecho --- forman lo que se llama una *</a:t>
            </a:r>
            <a:r>
              <a:rPr lang="es-ES" dirty="0" err="1" smtClean="0"/>
              <a:t>hipercolumna</a:t>
            </a:r>
            <a:r>
              <a:rPr lang="es-ES" dirty="0" smtClean="0"/>
              <a:t>*,de aproximadamente un milímetro cuadrado.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s-ES" dirty="0" smtClean="0"/>
              <a:t>Los campos receptivos de las células simples de V1 se aproximan matemáticamente con *filtros de </a:t>
            </a:r>
            <a:r>
              <a:rPr lang="es-ES" dirty="0" err="1" smtClean="0"/>
              <a:t>Gabor</a:t>
            </a:r>
            <a:r>
              <a:rPr lang="es-ES" dirty="0" smtClean="0"/>
              <a:t>* </a:t>
            </a:r>
          </a:p>
          <a:p>
            <a:endParaRPr lang="es-ES" dirty="0" smtClean="0"/>
          </a:p>
          <a:p>
            <a:r>
              <a:rPr lang="es-ES" dirty="0" smtClean="0"/>
              <a:t>--- el producto de una gaussiana y una sinusoide--- </a:t>
            </a:r>
          </a:p>
          <a:p>
            <a:endParaRPr lang="es-ES" dirty="0" smtClean="0"/>
          </a:p>
          <a:p>
            <a:r>
              <a:rPr lang="es-ES" dirty="0" smtClean="0"/>
              <a:t>que capturan tanto la extensión espacial del campo receptivo como su selectividad a orientación y frecuencia espacial.</a:t>
            </a:r>
          </a:p>
          <a:p>
            <a:r>
              <a:rPr lang="es-ES" dirty="0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454545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4060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 smtClean="0"/>
              <a:t>El teorema de </a:t>
            </a:r>
            <a:r>
              <a:rPr lang="es-ES" dirty="0" err="1" smtClean="0"/>
              <a:t>Bayes</a:t>
            </a:r>
            <a:r>
              <a:rPr lang="es-ES" dirty="0" smtClean="0"/>
              <a:t> nos dice que la probabilidad de las variables del mundo dado lo que observamos --- la *posterior* --- es </a:t>
            </a:r>
          </a:p>
          <a:p>
            <a:endParaRPr lang="es-ES" dirty="0" smtClean="0"/>
          </a:p>
          <a:p>
            <a:r>
              <a:rPr lang="es-ES" sz="3200" dirty="0" smtClean="0"/>
              <a:t>proporcional </a:t>
            </a:r>
          </a:p>
          <a:p>
            <a:endParaRPr lang="es-ES" dirty="0" smtClean="0"/>
          </a:p>
          <a:p>
            <a:r>
              <a:rPr lang="es-ES" dirty="0" smtClean="0"/>
              <a:t>A la verosimilitud, que mide cuán bien el estímulo observado explica </a:t>
            </a:r>
            <a:r>
              <a:rPr lang="es-ES" dirty="0" err="1" smtClean="0"/>
              <a:t>esasvariables</a:t>
            </a:r>
            <a:r>
              <a:rPr lang="es-ES" dirty="0" smtClean="0"/>
              <a:t> del mundo, multiplicada por el *prior*, que es lo que el sistema esperaba antes de observar nada. </a:t>
            </a:r>
          </a:p>
          <a:p>
            <a:endParaRPr lang="es-ES" dirty="0" smtClean="0"/>
          </a:p>
          <a:p>
            <a:r>
              <a:rPr lang="es-ES" dirty="0" smtClean="0"/>
              <a:t>En términos de percepción: el cerebro no solo responde a lo que llega por los sentidos; también tiene expectativas sobre cómo es el mundo, y las combina con los datos sensoriales para llegar a la percepción más probable.</a:t>
            </a:r>
          </a:p>
          <a:p>
            <a:endParaRPr lang="es-E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 smtClean="0"/>
              <a:t>Lo interesante para la neurociencia es la **hipótesis del </a:t>
            </a:r>
            <a:r>
              <a:rPr lang="es-ES" dirty="0" err="1" smtClean="0"/>
              <a:t>muestreoneuronal</a:t>
            </a:r>
            <a:r>
              <a:rPr lang="es-ES" dirty="0" smtClean="0"/>
              <a:t>**: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 smtClean="0"/>
              <a:t>la idea de que la variabilidad en la actividad neuronal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 smtClean="0"/>
              <a:t>---que antes se consideraba simplemente ruido –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dirty="0" smtClean="0"/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s-ES" dirty="0" smtClean="0"/>
              <a:t>podría estar codificando la incertidumbre de esta inferencia.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 smtClean="0"/>
              <a:t> Si la red neuronal fluctúa alrededor de ciertos valores, esas fluctuaciones son **muestras de la distribución posterior**. Y si </a:t>
            </a:r>
            <a:r>
              <a:rPr lang="es-ES" dirty="0" err="1" smtClean="0"/>
              <a:t>promediás</a:t>
            </a:r>
            <a:r>
              <a:rPr lang="es-ES" dirty="0" smtClean="0"/>
              <a:t> la actividad a lo largo del tiempo, </a:t>
            </a:r>
            <a:r>
              <a:rPr lang="es-ES" dirty="0" err="1" smtClean="0"/>
              <a:t>convergés</a:t>
            </a:r>
            <a:r>
              <a:rPr lang="es-ES" dirty="0" smtClean="0"/>
              <a:t> a la media de esa posterior bayesiana.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 smtClean="0"/>
              <a:t> Vamos a ver cómo el modelo de </a:t>
            </a:r>
            <a:r>
              <a:rPr lang="es-ES" dirty="0" err="1" smtClean="0"/>
              <a:t>Echeveste</a:t>
            </a:r>
            <a:r>
              <a:rPr lang="es-ES" dirty="0" smtClean="0"/>
              <a:t> implementa exactamente esto.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1905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err="1" smtClean="0"/>
              <a:t>tres</a:t>
            </a:r>
            <a:r>
              <a:rPr lang="en-US" dirty="0" smtClean="0"/>
              <a:t> </a:t>
            </a:r>
            <a:r>
              <a:rPr lang="en-US" dirty="0" err="1" smtClean="0"/>
              <a:t>capas</a:t>
            </a:r>
            <a:r>
              <a:rPr lang="en-US" dirty="0" smtClean="0"/>
              <a:t> </a:t>
            </a:r>
            <a:r>
              <a:rPr lang="en-US" dirty="0" err="1" smtClean="0"/>
              <a:t>topográficamente</a:t>
            </a:r>
            <a:r>
              <a:rPr lang="en-US" dirty="0" smtClean="0"/>
              <a:t> </a:t>
            </a:r>
            <a:r>
              <a:rPr lang="en-US" dirty="0" err="1" smtClean="0"/>
              <a:t>organizadas</a:t>
            </a:r>
            <a:endParaRPr lang="en-US" dirty="0" smtClean="0"/>
          </a:p>
          <a:p>
            <a:endParaRPr lang="es-AR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9480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s-ES" sz="1800" b="1" dirty="0" smtClean="0">
                <a:solidFill>
                  <a:srgbClr val="6B3FA0"/>
                </a:solidFill>
                <a:latin typeface="Georgia" pitchFamily="34" charset="0"/>
              </a:rPr>
              <a:t>Transitorios inhibitorios</a:t>
            </a:r>
          </a:p>
          <a:p>
            <a:pPr marL="0" indent="0">
              <a:buNone/>
            </a:pPr>
            <a:endParaRPr lang="es-ES" sz="1200" dirty="0" smtClean="0"/>
          </a:p>
          <a:p>
            <a:r>
              <a:rPr lang="es-ES" sz="1200" dirty="0" smtClean="0">
                <a:solidFill>
                  <a:srgbClr val="5A5A6A"/>
                </a:solidFill>
                <a:latin typeface="Calibri" pitchFamily="34" charset="0"/>
              </a:rPr>
              <a:t>Picos al inicio de la respuesta que aceleran la convergencia hacia la región de alta probabilidad</a:t>
            </a:r>
          </a:p>
          <a:p>
            <a:endParaRPr lang="es-ES" sz="1200" dirty="0" smtClean="0">
              <a:solidFill>
                <a:srgbClr val="5A5A6A"/>
              </a:solidFill>
              <a:latin typeface="Calibri" pitchFamily="34" charset="0"/>
            </a:endParaRPr>
          </a:p>
          <a:p>
            <a:r>
              <a:rPr lang="es-ES" sz="1200" dirty="0" smtClean="0">
                <a:solidFill>
                  <a:srgbClr val="5A5A6A"/>
                </a:solidFill>
                <a:latin typeface="Calibri" pitchFamily="34" charset="0"/>
              </a:rPr>
              <a:t> (reducen el </a:t>
            </a:r>
            <a:r>
              <a:rPr lang="es-ES" sz="1200" dirty="0" err="1" smtClean="0">
                <a:solidFill>
                  <a:srgbClr val="5A5A6A"/>
                </a:solidFill>
                <a:latin typeface="Calibri" pitchFamily="34" charset="0"/>
              </a:rPr>
              <a:t>burn</a:t>
            </a:r>
            <a:r>
              <a:rPr lang="es-ES" sz="1200" dirty="0" smtClean="0">
                <a:solidFill>
                  <a:srgbClr val="5A5A6A"/>
                </a:solidFill>
                <a:latin typeface="Calibri" pitchFamily="34" charset="0"/>
              </a:rPr>
              <a:t>-in), </a:t>
            </a:r>
          </a:p>
          <a:p>
            <a:endParaRPr lang="es-ES" sz="1200" dirty="0" smtClean="0">
              <a:solidFill>
                <a:srgbClr val="5A5A6A"/>
              </a:solidFill>
              <a:latin typeface="Calibri" pitchFamily="34" charset="0"/>
            </a:endParaRPr>
          </a:p>
          <a:p>
            <a:r>
              <a:rPr lang="es-ES" sz="1200" dirty="0" smtClean="0">
                <a:solidFill>
                  <a:srgbClr val="5A5A6A"/>
                </a:solidFill>
                <a:latin typeface="Calibri" pitchFamily="34" charset="0"/>
              </a:rPr>
              <a:t>evitando difusión lenta desde el estado inicial, consistentes con registros electrofisiológicos</a:t>
            </a:r>
          </a:p>
          <a:p>
            <a:endParaRPr lang="es-ES" sz="1200" dirty="0" smtClean="0">
              <a:solidFill>
                <a:srgbClr val="5A5A6A"/>
              </a:solidFill>
              <a:latin typeface="Calibri" pitchFamily="34" charset="0"/>
            </a:endParaRPr>
          </a:p>
          <a:p>
            <a:pPr marL="0" indent="0">
              <a:buNone/>
            </a:pPr>
            <a:r>
              <a:rPr lang="es-ES" sz="1800" b="1" dirty="0" smtClean="0">
                <a:solidFill>
                  <a:srgbClr val="6B3FA0"/>
                </a:solidFill>
                <a:latin typeface="Georgia" pitchFamily="34" charset="0"/>
              </a:rPr>
              <a:t>Variabilidad modulada por contraste</a:t>
            </a:r>
          </a:p>
          <a:p>
            <a:pPr marL="0" indent="0">
              <a:buNone/>
            </a:pPr>
            <a:endParaRPr lang="es-ES" sz="1200" dirty="0" smtClean="0"/>
          </a:p>
          <a:p>
            <a:pPr marL="0" indent="0">
              <a:buNone/>
            </a:pPr>
            <a:r>
              <a:rPr lang="es-ES" sz="1200" dirty="0" smtClean="0">
                <a:solidFill>
                  <a:srgbClr val="5A5A6A"/>
                </a:solidFill>
                <a:latin typeface="Calibri" pitchFamily="34" charset="0"/>
              </a:rPr>
              <a:t>Alta variabilidad con </a:t>
            </a:r>
            <a:r>
              <a:rPr lang="es-ES" sz="1200" dirty="0" err="1" smtClean="0">
                <a:solidFill>
                  <a:srgbClr val="5A5A6A"/>
                </a:solidFill>
                <a:latin typeface="Calibri" pitchFamily="34" charset="0"/>
              </a:rPr>
              <a:t>estimulos</a:t>
            </a:r>
            <a:r>
              <a:rPr lang="es-ES" sz="1200" dirty="0" smtClean="0">
                <a:solidFill>
                  <a:srgbClr val="5A5A6A"/>
                </a:solidFill>
                <a:latin typeface="Calibri" pitchFamily="34" charset="0"/>
              </a:rPr>
              <a:t> </a:t>
            </a:r>
            <a:r>
              <a:rPr lang="es-ES" sz="1200" dirty="0" err="1" smtClean="0">
                <a:solidFill>
                  <a:srgbClr val="5A5A6A"/>
                </a:solidFill>
                <a:latin typeface="Calibri" pitchFamily="34" charset="0"/>
              </a:rPr>
              <a:t>debiles</a:t>
            </a:r>
            <a:r>
              <a:rPr lang="es-ES" sz="1200" dirty="0" smtClean="0">
                <a:solidFill>
                  <a:srgbClr val="5A5A6A"/>
                </a:solidFill>
                <a:latin typeface="Calibri" pitchFamily="34" charset="0"/>
              </a:rPr>
              <a:t>, baja con </a:t>
            </a:r>
            <a:r>
              <a:rPr lang="es-ES" sz="1200" dirty="0" err="1" smtClean="0">
                <a:solidFill>
                  <a:srgbClr val="5A5A6A"/>
                </a:solidFill>
                <a:latin typeface="Calibri" pitchFamily="34" charset="0"/>
              </a:rPr>
              <a:t>estimulos</a:t>
            </a:r>
            <a:r>
              <a:rPr lang="es-ES" sz="1200" dirty="0" smtClean="0">
                <a:solidFill>
                  <a:srgbClr val="5A5A6A"/>
                </a:solidFill>
                <a:latin typeface="Calibri" pitchFamily="34" charset="0"/>
              </a:rPr>
              <a:t> fuertes. </a:t>
            </a:r>
          </a:p>
          <a:p>
            <a:pPr marL="0" indent="0">
              <a:buNone/>
            </a:pPr>
            <a:endParaRPr lang="es-ES" sz="1200" dirty="0" smtClean="0">
              <a:solidFill>
                <a:srgbClr val="5A5A6A"/>
              </a:solidFill>
              <a:latin typeface="Calibri" pitchFamily="34" charset="0"/>
            </a:endParaRPr>
          </a:p>
          <a:p>
            <a:pPr marL="0" indent="0">
              <a:buNone/>
            </a:pPr>
            <a:r>
              <a:rPr lang="es-ES" sz="1200" dirty="0" smtClean="0">
                <a:solidFill>
                  <a:srgbClr val="5A5A6A"/>
                </a:solidFill>
                <a:latin typeface="Calibri" pitchFamily="34" charset="0"/>
              </a:rPr>
              <a:t>Codifica incertidumbre de manera </a:t>
            </a:r>
            <a:r>
              <a:rPr lang="es-ES" sz="1200" dirty="0" err="1" smtClean="0">
                <a:solidFill>
                  <a:srgbClr val="5A5A6A"/>
                </a:solidFill>
                <a:latin typeface="Calibri" pitchFamily="34" charset="0"/>
              </a:rPr>
              <a:t>automatica</a:t>
            </a:r>
            <a:r>
              <a:rPr lang="es-ES" sz="1200" dirty="0" smtClean="0">
                <a:solidFill>
                  <a:srgbClr val="5A5A6A"/>
                </a:solidFill>
                <a:latin typeface="Calibri" pitchFamily="34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57891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 smtClean="0"/>
              <a:t> problema de inferencia que tiene que resolver la red se </a:t>
            </a:r>
          </a:p>
          <a:p>
            <a:r>
              <a:rPr lang="es-ES" dirty="0" smtClean="0"/>
              <a:t>Define formalmente con el *</a:t>
            </a:r>
            <a:r>
              <a:rPr lang="es-ES" dirty="0" err="1" smtClean="0"/>
              <a:t>Gaussian</a:t>
            </a:r>
            <a:r>
              <a:rPr lang="es-ES" dirty="0" smtClean="0"/>
              <a:t> </a:t>
            </a:r>
            <a:r>
              <a:rPr lang="es-ES" dirty="0" err="1" smtClean="0"/>
              <a:t>Scale</a:t>
            </a:r>
            <a:r>
              <a:rPr lang="es-ES" dirty="0" smtClean="0"/>
              <a:t> Mixture*,</a:t>
            </a:r>
          </a:p>
          <a:p>
            <a:endParaRPr lang="es-ES" dirty="0" smtClean="0"/>
          </a:p>
          <a:p>
            <a:r>
              <a:rPr lang="es-ES" dirty="0" smtClean="0"/>
              <a:t> se genera como una combinación lineal de filtros </a:t>
            </a:r>
            <a:r>
              <a:rPr lang="es-ES" dirty="0" err="1" smtClean="0"/>
              <a:t>deGabor</a:t>
            </a:r>
            <a:r>
              <a:rPr lang="es-ES" dirty="0" smtClean="0"/>
              <a:t> orientados</a:t>
            </a:r>
          </a:p>
          <a:p>
            <a:endParaRPr lang="es-ES" dirty="0" smtClean="0"/>
          </a:p>
          <a:p>
            <a:r>
              <a:rPr lang="es-ES" dirty="0" smtClean="0"/>
              <a:t>escalados por una variable </a:t>
            </a:r>
            <a:r>
              <a:rPr lang="es-ES" dirty="0" err="1" smtClean="0"/>
              <a:t>decontraste</a:t>
            </a:r>
            <a:r>
              <a:rPr lang="es-ES" dirty="0" smtClean="0"/>
              <a:t> global z</a:t>
            </a:r>
          </a:p>
          <a:p>
            <a:endParaRPr lang="es-ES" dirty="0" smtClean="0"/>
          </a:p>
          <a:p>
            <a:r>
              <a:rPr lang="en-US" dirty="0" err="1" smtClean="0"/>
              <a:t>más</a:t>
            </a:r>
            <a:r>
              <a:rPr lang="en-US" dirty="0" smtClean="0"/>
              <a:t> </a:t>
            </a:r>
            <a:r>
              <a:rPr lang="en-US" dirty="0" err="1" smtClean="0"/>
              <a:t>ruido</a:t>
            </a:r>
            <a:endParaRPr lang="en-US" dirty="0" smtClean="0"/>
          </a:p>
          <a:p>
            <a:endParaRPr lang="es-AR" dirty="0" smtClean="0"/>
          </a:p>
          <a:p>
            <a:r>
              <a:rPr lang="es-ES" dirty="0" smtClean="0"/>
              <a:t>La red tiene que inferir, dado lo </a:t>
            </a:r>
            <a:r>
              <a:rPr lang="es-ES" dirty="0" err="1" smtClean="0"/>
              <a:t>queobserva</a:t>
            </a:r>
            <a:r>
              <a:rPr lang="es-ES" dirty="0" smtClean="0"/>
              <a:t>, cuáles son las orientaciones más probables y con </a:t>
            </a:r>
            <a:r>
              <a:rPr lang="es-ES" dirty="0" err="1" smtClean="0"/>
              <a:t>quéincertidumbre</a:t>
            </a:r>
            <a:r>
              <a:rPr lang="es-ES" dirty="0" smtClean="0"/>
              <a:t>.</a:t>
            </a:r>
          </a:p>
          <a:p>
            <a:endParaRPr lang="es-ES" dirty="0" smtClean="0"/>
          </a:p>
          <a:p>
            <a:r>
              <a:rPr lang="es-ES" dirty="0" smtClean="0"/>
              <a:t>el GSM define cómo se genera la imagen a partir </a:t>
            </a:r>
            <a:r>
              <a:rPr lang="es-ES" dirty="0" err="1" smtClean="0"/>
              <a:t>deorientaciones</a:t>
            </a:r>
            <a:r>
              <a:rPr lang="es-ES" dirty="0" smtClean="0"/>
              <a:t> y contraste, y la red neuronal tiene que resolver </a:t>
            </a:r>
            <a:r>
              <a:rPr lang="es-ES" dirty="0" err="1" smtClean="0"/>
              <a:t>elproblema</a:t>
            </a:r>
            <a:r>
              <a:rPr lang="es-ES" dirty="0" smtClean="0"/>
              <a:t> inverso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s-AR" dirty="0" smtClean="0"/>
              <a:t>ADAM gradientes estocásticos</a:t>
            </a:r>
          </a:p>
          <a:p>
            <a:endParaRPr lang="es-AR" dirty="0" smtClean="0"/>
          </a:p>
          <a:p>
            <a:r>
              <a:rPr lang="es-AR" dirty="0" smtClean="0"/>
              <a:t>Robusto</a:t>
            </a:r>
            <a:r>
              <a:rPr lang="es-AR" baseline="0" dirty="0" smtClean="0"/>
              <a:t> para explorar el espacio de parámetros</a:t>
            </a:r>
          </a:p>
          <a:p>
            <a:endParaRPr lang="es-AR" baseline="0" dirty="0" smtClean="0"/>
          </a:p>
          <a:p>
            <a:r>
              <a:rPr lang="es-AR" baseline="0" dirty="0" smtClean="0"/>
              <a:t>Costo estocástico, promediar el costo al cambiar un pequeño paso, lo estimamos</a:t>
            </a:r>
          </a:p>
          <a:p>
            <a:endParaRPr lang="es-AR" baseline="0" dirty="0" smtClean="0"/>
          </a:p>
          <a:p>
            <a:r>
              <a:rPr lang="es-AR" baseline="0" dirty="0" smtClean="0"/>
              <a:t>Primer grado solo gradiente y </a:t>
            </a:r>
            <a:r>
              <a:rPr lang="es-AR" baseline="0" dirty="0" err="1" smtClean="0"/>
              <a:t>manitene</a:t>
            </a:r>
            <a:r>
              <a:rPr lang="es-AR" baseline="0" dirty="0" smtClean="0"/>
              <a:t> dos momentos media y varianza</a:t>
            </a:r>
          </a:p>
          <a:p>
            <a:endParaRPr lang="es-AR" baseline="0" dirty="0" smtClean="0"/>
          </a:p>
          <a:p>
            <a:r>
              <a:rPr lang="es-AR" baseline="0" dirty="0" smtClean="0"/>
              <a:t>LBFGSB</a:t>
            </a:r>
          </a:p>
          <a:p>
            <a:endParaRPr lang="es-AR" baseline="0" dirty="0" smtClean="0"/>
          </a:p>
          <a:p>
            <a:r>
              <a:rPr lang="es-AR" baseline="0" dirty="0" smtClean="0"/>
              <a:t>Gradiente determinístico </a:t>
            </a:r>
            <a:r>
              <a:rPr lang="es-AR" baseline="0" dirty="0" err="1" smtClean="0"/>
              <a:t>via</a:t>
            </a:r>
            <a:r>
              <a:rPr lang="es-AR" baseline="0" dirty="0" smtClean="0"/>
              <a:t> ADF</a:t>
            </a:r>
          </a:p>
          <a:p>
            <a:endParaRPr lang="es-AR" baseline="0" dirty="0" smtClean="0"/>
          </a:p>
          <a:p>
            <a:r>
              <a:rPr lang="es-AR" baseline="0" dirty="0" smtClean="0"/>
              <a:t>Propaga </a:t>
            </a:r>
            <a:r>
              <a:rPr lang="es-AR" baseline="0" dirty="0" err="1" smtClean="0"/>
              <a:t>analitimente</a:t>
            </a:r>
            <a:r>
              <a:rPr lang="es-AR" baseline="0" dirty="0" smtClean="0"/>
              <a:t> los momentos de la actividad neuronal </a:t>
            </a:r>
          </a:p>
          <a:p>
            <a:endParaRPr lang="es-AR" baseline="0" dirty="0" smtClean="0"/>
          </a:p>
          <a:p>
            <a:r>
              <a:rPr lang="es-AR" baseline="0" dirty="0" smtClean="0"/>
              <a:t>NO ACEPTA RUIDO</a:t>
            </a:r>
          </a:p>
          <a:p>
            <a:endParaRPr lang="es-AR" baseline="0" dirty="0" smtClean="0"/>
          </a:p>
          <a:p>
            <a:r>
              <a:rPr lang="es-AR" baseline="0" dirty="0" err="1" smtClean="0"/>
              <a:t>Quasi</a:t>
            </a:r>
            <a:r>
              <a:rPr lang="es-AR" baseline="0" dirty="0" smtClean="0"/>
              <a:t> newton segunda orden aproximado</a:t>
            </a:r>
          </a:p>
          <a:p>
            <a:endParaRPr lang="es-AR" baseline="0" dirty="0" smtClean="0"/>
          </a:p>
          <a:p>
            <a:r>
              <a:rPr lang="es-AR" baseline="0" dirty="0" smtClean="0"/>
              <a:t>Pendiente + estimación de la </a:t>
            </a:r>
            <a:r>
              <a:rPr lang="es-AR" baseline="0" dirty="0" err="1" smtClean="0"/>
              <a:t>curbatura</a:t>
            </a:r>
            <a:endParaRPr lang="es-AR" baseline="0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421505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87790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9479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41555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92782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33902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24841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47144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gi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eg"/><Relationship Id="rId4" Type="http://schemas.openxmlformats.org/officeDocument/2006/relationships/image" Target="../media/image7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6B3FA0"/>
          </a:solidFill>
          <a:ln/>
        </p:spPr>
      </p:sp>
      <p:pic>
        <p:nvPicPr>
          <p:cNvPr id="4" name="Image 0" descr="/home/claude/img_user/thomas_willis.jpg"/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5420615" y="731520"/>
            <a:ext cx="3452302" cy="3452302"/>
          </a:xfrm>
          <a:prstGeom prst="ellipse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731520"/>
            <a:ext cx="5943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D1F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Implementación de un </a:t>
            </a:r>
            <a:r>
              <a:rPr lang="en-US" sz="2600" b="1" dirty="0" err="1" smtClean="0">
                <a:solidFill>
                  <a:srgbClr val="3D1F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modelo</a:t>
            </a:r>
            <a:r>
              <a:rPr lang="en-US" sz="2600" b="1" dirty="0" smtClean="0">
                <a:solidFill>
                  <a:srgbClr val="3D1F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neuronal</a:t>
            </a:r>
            <a:r>
              <a:rPr lang="en-US" sz="2600" dirty="0"/>
              <a:t> </a:t>
            </a:r>
            <a:r>
              <a:rPr lang="en-US" sz="2600" b="1" dirty="0" smtClean="0">
                <a:solidFill>
                  <a:srgbClr val="3D1F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</a:t>
            </a:r>
            <a:r>
              <a:rPr lang="en-US" sz="2600" b="1" dirty="0" err="1">
                <a:solidFill>
                  <a:srgbClr val="3D1F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integración</a:t>
            </a:r>
            <a:r>
              <a:rPr lang="en-US" sz="2600" b="1" dirty="0">
                <a:solidFill>
                  <a:srgbClr val="3D1F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2600" b="1" dirty="0" smtClean="0">
                <a:solidFill>
                  <a:srgbClr val="3D1F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multisensorial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457200" y="23774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B3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Inferencia probabilística con </a:t>
            </a:r>
            <a:r>
              <a:rPr lang="en-US" sz="1400" i="1" dirty="0" err="1">
                <a:solidFill>
                  <a:srgbClr val="6B3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dinámicas</a:t>
            </a:r>
            <a:r>
              <a:rPr lang="en-US" sz="1400" i="1" dirty="0">
                <a:solidFill>
                  <a:srgbClr val="6B3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1400" i="1" dirty="0" smtClean="0">
              <a:solidFill>
                <a:srgbClr val="6B3FA0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pPr marL="0" indent="0" algn="l">
              <a:buNone/>
            </a:pPr>
            <a:r>
              <a:rPr lang="en-US" sz="1400" i="1" dirty="0" err="1" smtClean="0">
                <a:solidFill>
                  <a:srgbClr val="6B3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corticales</a:t>
            </a:r>
            <a:r>
              <a:rPr lang="en-US" sz="1400" i="1" dirty="0" smtClean="0">
                <a:solidFill>
                  <a:srgbClr val="6B3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400" i="1" dirty="0">
                <a:solidFill>
                  <a:srgbClr val="6B3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realistas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3200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Franco Molina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36118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Directores: Renato Paredes Venero · Juan Bautista Cabral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 smtClean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FAMAF </a:t>
            </a:r>
            <a:r>
              <a:rPr lang="en-US" sz="11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Universidad Nacional de Córdoba</a:t>
            </a:r>
            <a:endParaRPr lang="en-US" sz="1100" dirty="0"/>
          </a:p>
        </p:txBody>
      </p:sp>
      <p:pic>
        <p:nvPicPr>
          <p:cNvPr id="3076" name="Picture 4" descr="Versiones descargables del escudo de la UNC | Universidad Nacional de  Córdoba"/>
          <p:cNvPicPr>
            <a:picLocks noChangeAspect="1" noChangeArrowheads="1"/>
          </p:cNvPicPr>
          <p:nvPr/>
        </p:nvPicPr>
        <p:blipFill rotWithShape="1"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98" t="24882" r="35196" b="10743"/>
          <a:stretch/>
        </p:blipFill>
        <p:spPr bwMode="auto">
          <a:xfrm>
            <a:off x="8130923" y="4512243"/>
            <a:ext cx="933033" cy="489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837211"/>
            <a:ext cx="260604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37211"/>
            <a:ext cx="260604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2803171"/>
            <a:ext cx="457200" cy="36576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2894611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B3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cerebro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3260371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combina información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múltiples sentidos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46120" y="837211"/>
            <a:ext cx="260604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46120" y="837211"/>
            <a:ext cx="260604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13" name="Shape 9"/>
          <p:cNvSpPr/>
          <p:nvPr/>
        </p:nvSpPr>
        <p:spPr>
          <a:xfrm>
            <a:off x="3429000" y="2803171"/>
            <a:ext cx="457200" cy="36576"/>
          </a:xfrm>
          <a:prstGeom prst="rect">
            <a:avLst/>
          </a:prstGeom>
          <a:solidFill>
            <a:srgbClr val="7030A0"/>
          </a:solidFill>
          <a:ln/>
        </p:spPr>
      </p:sp>
      <p:sp>
        <p:nvSpPr>
          <p:cNvPr id="14" name="Text 10"/>
          <p:cNvSpPr/>
          <p:nvPr/>
        </p:nvSpPr>
        <p:spPr>
          <a:xfrm>
            <a:off x="3429000" y="2894611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030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modelos</a:t>
            </a:r>
            <a:endParaRPr lang="en-US" sz="1600" dirty="0">
              <a:solidFill>
                <a:srgbClr val="7030A0"/>
              </a:solidFill>
            </a:endParaRPr>
          </a:p>
        </p:txBody>
      </p:sp>
      <p:sp>
        <p:nvSpPr>
          <p:cNvPr id="15" name="Text 11"/>
          <p:cNvSpPr/>
          <p:nvPr/>
        </p:nvSpPr>
        <p:spPr>
          <a:xfrm>
            <a:off x="3429000" y="3260371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Simulaciones computacionales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imitan circuitos neuronales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126480" y="837211"/>
            <a:ext cx="260604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26480" y="837211"/>
            <a:ext cx="260604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19" name="Shape 14"/>
          <p:cNvSpPr/>
          <p:nvPr/>
        </p:nvSpPr>
        <p:spPr>
          <a:xfrm>
            <a:off x="6309360" y="2803171"/>
            <a:ext cx="457200" cy="36576"/>
          </a:xfrm>
          <a:prstGeom prst="rect">
            <a:avLst/>
          </a:prstGeom>
          <a:solidFill>
            <a:srgbClr val="7030A0"/>
          </a:solidFill>
          <a:ln/>
        </p:spPr>
      </p:sp>
      <p:sp>
        <p:nvSpPr>
          <p:cNvPr id="20" name="Text 15"/>
          <p:cNvSpPr/>
          <p:nvPr/>
        </p:nvSpPr>
        <p:spPr>
          <a:xfrm>
            <a:off x="6309360" y="2894611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030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software</a:t>
            </a:r>
            <a:endParaRPr lang="en-US" sz="1600" dirty="0">
              <a:solidFill>
                <a:srgbClr val="7030A0"/>
              </a:solidFill>
            </a:endParaRPr>
          </a:p>
        </p:txBody>
      </p:sp>
      <p:sp>
        <p:nvSpPr>
          <p:cNvPr id="21" name="Text 16"/>
          <p:cNvSpPr/>
          <p:nvPr/>
        </p:nvSpPr>
        <p:spPr>
          <a:xfrm>
            <a:off x="6309360" y="3260371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en Python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Scikit-NeuroMSI</a:t>
            </a:r>
            <a:endParaRPr lang="en-US" sz="1100" dirty="0"/>
          </a:p>
        </p:txBody>
      </p:sp>
      <p:pic>
        <p:nvPicPr>
          <p:cNvPr id="26" name="Imagen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749" y="1104091"/>
            <a:ext cx="2242171" cy="1562046"/>
          </a:xfrm>
          <a:prstGeom prst="rect">
            <a:avLst/>
          </a:prstGeom>
        </p:spPr>
      </p:pic>
      <p:pic>
        <p:nvPicPr>
          <p:cNvPr id="28" name="Imagen 2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9509" y="1102650"/>
            <a:ext cx="1577175" cy="1577175"/>
          </a:xfrm>
          <a:prstGeom prst="rect">
            <a:avLst/>
          </a:prstGeom>
        </p:spPr>
      </p:pic>
      <p:pic>
        <p:nvPicPr>
          <p:cNvPr id="30" name="Imagen 2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6535" y="1045618"/>
            <a:ext cx="1725930" cy="16040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1F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 corazón al cerebro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"El cerebro es solo un radiador" — Aristóteles (parafraseado)</a:t>
            </a:r>
            <a:endParaRPr lang="en-US" sz="1100" dirty="0"/>
          </a:p>
        </p:txBody>
      </p:sp>
      <p:pic>
        <p:nvPicPr>
          <p:cNvPr id="5" name="Image 0" descr="/home/claude/figures/timeline_histor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97280"/>
            <a:ext cx="8595360" cy="21031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879124" y="3611880"/>
            <a:ext cx="1488989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 Willis (1664)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Primeras ilustraciones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detalladas del cerebro</a:t>
            </a:r>
            <a:endParaRPr lang="en-US" sz="1000" dirty="0"/>
          </a:p>
        </p:txBody>
      </p:sp>
      <p:pic>
        <p:nvPicPr>
          <p:cNvPr id="8" name="Image 2" descr="/home/claude/img_user/CajalCerebellum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029200" y="3383280"/>
            <a:ext cx="1645920" cy="1371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802394" y="3610644"/>
            <a:ext cx="153223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Ramón y Cajal (1906)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Doctrina de la neurona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Premio Nobel</a:t>
            </a:r>
            <a:endParaRPr lang="en-US" sz="1000" dirty="0"/>
          </a:p>
        </p:txBody>
      </p:sp>
      <p:pic>
        <p:nvPicPr>
          <p:cNvPr id="1026" name="Picture 2" descr="Untitled Document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5930" y="3383280"/>
            <a:ext cx="164592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1F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neurona</a:t>
            </a:r>
            <a:endParaRPr lang="en-US" sz="2800" dirty="0"/>
          </a:p>
        </p:txBody>
      </p:sp>
      <p:pic>
        <p:nvPicPr>
          <p:cNvPr id="4" name="Image 0" descr="/home/claude/img_user/neurona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914400"/>
            <a:ext cx="5029200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0" y="1005840"/>
            <a:ext cx="320040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7C4DBA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0" y="1005840"/>
            <a:ext cx="54864" cy="640080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7" name="Text 4"/>
          <p:cNvSpPr/>
          <p:nvPr/>
        </p:nvSpPr>
        <p:spPr>
          <a:xfrm>
            <a:off x="566928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3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669280" y="13258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Cuerpo celular, </a:t>
            </a:r>
            <a:r>
              <a:rPr lang="en-US" sz="1100" dirty="0" err="1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0" y="1783080"/>
            <a:ext cx="320040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7C4DBA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0" y="1783080"/>
            <a:ext cx="54864" cy="640080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11" name="Text 8"/>
          <p:cNvSpPr/>
          <p:nvPr/>
        </p:nvSpPr>
        <p:spPr>
          <a:xfrm>
            <a:off x="5669280" y="18288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3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Dendritas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669280" y="2103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Reciben señales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0" y="2560320"/>
            <a:ext cx="320040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7C4DBA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486400" y="2560320"/>
            <a:ext cx="54864" cy="640080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15" name="Text 12"/>
          <p:cNvSpPr/>
          <p:nvPr/>
        </p:nvSpPr>
        <p:spPr>
          <a:xfrm>
            <a:off x="5669280" y="2606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3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Axón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669280" y="28803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Transmite señales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486400" y="3337560"/>
            <a:ext cx="320040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7C4DBA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486400" y="3337560"/>
            <a:ext cx="54864" cy="640080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19" name="Text 16"/>
          <p:cNvSpPr/>
          <p:nvPr/>
        </p:nvSpPr>
        <p:spPr>
          <a:xfrm>
            <a:off x="5669280" y="33832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3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Sinapsis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669280" y="36576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Libera neurotransmisores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486400" y="42062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E84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Potencial de reposo: −70 mV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anales ionico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" name="title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2800" b="1" dirty="0">
                <a:solidFill>
                  <a:srgbClr val="3D1F6D"/>
                </a:solidFill>
                <a:latin typeface="Georgia" pitchFamily="34" charset="0"/>
              </a:rPr>
              <a:t>Canales ionicos y potencial de accion</a:t>
            </a:r>
          </a:p>
        </p:txBody>
      </p:sp>
      <p:pic>
        <p:nvPicPr>
          <p:cNvPr id="4" name="img4" descr="canal-ionico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750000"/>
            <a:ext cx="4500000" cy="2700000"/>
          </a:xfrm>
          <a:prstGeom prst="rect">
            <a:avLst/>
          </a:prstGeom>
        </p:spPr>
      </p:pic>
      <p:sp>
        <p:nvSpPr>
          <p:cNvPr id="5" name="principle"/>
          <p:cNvSpPr/>
          <p:nvPr/>
        </p:nvSpPr>
        <p:spPr>
          <a:xfrm>
            <a:off x="5000000" y="800000"/>
            <a:ext cx="3700000" cy="1000000"/>
          </a:xfrm>
          <a:prstGeom prst="rect">
            <a:avLst/>
          </a:prstGeom>
          <a:solidFill>
            <a:srgbClr val="3D1F6D"/>
          </a:solidFill>
          <a:ln>
            <a:noFill/>
          </a:ln>
        </p:spPr>
        <p:txBody>
          <a:bodyPr wrap="square" lIns="228600" rtlCol="0" anchor="ctr"/>
          <a:lstStyle/>
          <a:p>
            <a:pPr marL="0" indent="0" algn="ctr">
              <a:buNone/>
            </a:pPr>
            <a:r>
              <a:rPr lang="es-ES" sz="1800" b="1" dirty="0">
                <a:solidFill>
                  <a:srgbClr val="FFFFFF"/>
                </a:solidFill>
                <a:latin typeface="Georgia" pitchFamily="34" charset="0"/>
              </a:rPr>
              <a:t>Principio “todo o nada”</a:t>
            </a:r>
          </a:p>
        </p:txBody>
      </p:sp>
      <p:sp>
        <p:nvSpPr>
          <p:cNvPr id="6" name="card6"/>
          <p:cNvSpPr/>
          <p:nvPr/>
        </p:nvSpPr>
        <p:spPr>
          <a:xfrm>
            <a:off x="5000000" y="1950000"/>
            <a:ext cx="3700000" cy="1200000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txBody>
          <a:bodyPr wrap="square" lIns="152400" tIns="152400" rIns="152400" rtlCol="0" anchor="t"/>
          <a:lstStyle/>
          <a:p>
            <a:pPr marL="0" indent="0">
              <a:buNone/>
            </a:pPr>
            <a:r>
              <a:rPr lang="es-ES" sz="1200" b="1" dirty="0">
                <a:solidFill>
                  <a:srgbClr val="6B3FA0"/>
                </a:solidFill>
                <a:latin typeface="Georgia" pitchFamily="34" charset="0"/>
              </a:rPr>
              <a:t>Na⁺ → despolarizacion</a:t>
            </a:r>
          </a:p>
          <a:p>
            <a:pPr marL="0" indent="0">
              <a:buNone/>
            </a:pPr>
            <a:endParaRPr lang="es-ES" sz="1000" dirty="0"/>
          </a:p>
          <a:p>
            <a:pPr marL="0" indent="0">
              <a:buNone/>
            </a:pPr>
            <a:r>
              <a:rPr lang="es-ES" sz="1000" dirty="0">
                <a:solidFill>
                  <a:srgbClr val="5A5A6A"/>
                </a:solidFill>
                <a:latin typeface="Calibri" pitchFamily="34" charset="0"/>
              </a:rPr>
              <a:t>Los canales de sodio se abren rapidamente. La membrana se despolariza: el voltaje sube de -70 mV hasta +40 mV.</a:t>
            </a:r>
          </a:p>
        </p:txBody>
      </p:sp>
      <p:sp>
        <p:nvSpPr>
          <p:cNvPr id="7" name="card7"/>
          <p:cNvSpPr/>
          <p:nvPr/>
        </p:nvSpPr>
        <p:spPr>
          <a:xfrm>
            <a:off x="5000000" y="3100000"/>
            <a:ext cx="3700000" cy="1300000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txBody>
          <a:bodyPr wrap="square" lIns="152400" tIns="152400" rIns="152400" rtlCol="0" anchor="t"/>
          <a:lstStyle/>
          <a:p>
            <a:pPr marL="0" indent="0">
              <a:buNone/>
            </a:pPr>
            <a:r>
              <a:rPr lang="es-ES" sz="1200" b="1" dirty="0">
                <a:solidFill>
                  <a:srgbClr val="6B3FA0"/>
                </a:solidFill>
                <a:latin typeface="Georgia" pitchFamily="34" charset="0"/>
              </a:rPr>
              <a:t>K⁺ → repolarizacion</a:t>
            </a:r>
          </a:p>
          <a:p>
            <a:pPr marL="0" indent="0">
              <a:buNone/>
            </a:pPr>
            <a:endParaRPr lang="es-ES" sz="1000" dirty="0"/>
          </a:p>
          <a:p>
            <a:pPr marL="0" indent="0">
              <a:buNone/>
            </a:pPr>
            <a:r>
              <a:rPr lang="es-ES" sz="1000" dirty="0">
                <a:solidFill>
                  <a:srgbClr val="5A5A6A"/>
                </a:solidFill>
                <a:latin typeface="Calibri" pitchFamily="34" charset="0"/>
              </a:rPr>
              <a:t>Los canales de potasio se abren con retardo. La membrana vuelve al potencial de reposo. La intensidad se codifica en frecuencia, no en amplitud.</a:t>
            </a:r>
          </a:p>
        </p:txBody>
      </p:sp>
      <p:sp>
        <p:nvSpPr>
          <p:cNvPr id="8" name="card8"/>
          <p:cNvSpPr/>
          <p:nvPr/>
        </p:nvSpPr>
        <p:spPr>
          <a:xfrm>
            <a:off x="274320" y="3700000"/>
            <a:ext cx="4500000" cy="1100000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txBody>
          <a:bodyPr wrap="square" lIns="152400" tIns="152400" rIns="152400" rtlCol="0" anchor="t"/>
          <a:lstStyle/>
          <a:p>
            <a:pPr marL="0" indent="0">
              <a:buNone/>
            </a:pPr>
            <a:r>
              <a:rPr lang="es-ES" sz="1200" b="1" dirty="0">
                <a:solidFill>
                  <a:srgbClr val="3D1F6D"/>
                </a:solidFill>
                <a:latin typeface="Georgia" pitchFamily="34" charset="0"/>
              </a:rPr>
              <a:t>Hodgkin-Huxley (Nobel 1963)</a:t>
            </a:r>
          </a:p>
          <a:p>
            <a:pPr marL="0" indent="0">
              <a:buNone/>
            </a:pPr>
            <a:endParaRPr lang="es-ES" sz="1000" dirty="0"/>
          </a:p>
          <a:p>
            <a:pPr marL="0" indent="0">
              <a:buNone/>
            </a:pPr>
            <a:r>
              <a:rPr lang="es-ES" sz="1000" dirty="0">
                <a:solidFill>
                  <a:srgbClr val="5A5A6A"/>
                </a:solidFill>
                <a:latin typeface="Calibri" pitchFamily="34" charset="0"/>
              </a:rPr>
              <a:t>Modelo matematico del potencial de accion en el axon gigante del calamar. Primera descripcion cuantitativa de la excitabilidad neuronal.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odelos neurona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" name="title"/>
          <p:cNvSpPr/>
          <p:nvPr/>
        </p:nvSpPr>
        <p:spPr>
          <a:xfrm>
            <a:off x="457200" y="182880"/>
            <a:ext cx="8229600" cy="7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800" b="1" dirty="0">
                <a:solidFill>
                  <a:srgbClr val="3D1F6D"/>
                </a:solidFill>
                <a:latin typeface="Georgia" pitchFamily="34" charset="0"/>
              </a:rPr>
              <a:t>Modelos de neuronas: del detalle a la abstraccion</a:t>
            </a:r>
          </a:p>
        </p:txBody>
      </p:sp>
      <p:sp>
        <p:nvSpPr>
          <p:cNvPr id="4" name="blk4"/>
          <p:cNvSpPr/>
          <p:nvPr/>
        </p:nvSpPr>
        <p:spPr>
          <a:xfrm>
            <a:off x="457200" y="1308352"/>
            <a:ext cx="1814000" cy="900000"/>
          </a:xfrm>
          <a:prstGeom prst="rect">
            <a:avLst/>
          </a:prstGeom>
          <a:solidFill>
            <a:srgbClr val="3D1F6D"/>
          </a:solidFill>
          <a:ln>
            <a:noFill/>
          </a:ln>
        </p:spPr>
        <p:txBody>
          <a:bodyPr wrap="square" lIns="152400" rIns="152400" rtlCol="0" anchor="ctr"/>
          <a:lstStyle/>
          <a:p>
            <a:pPr marL="0" indent="0" algn="ctr">
              <a:buNone/>
            </a:pPr>
            <a:r>
              <a:rPr lang="es-ES" sz="1100" b="1" dirty="0">
                <a:solidFill>
                  <a:srgbClr val="FFFFFF"/>
                </a:solidFill>
                <a:latin typeface="Calibri" pitchFamily="34" charset="0"/>
              </a:rPr>
              <a:t>Hodgkin-Huxley</a:t>
            </a:r>
          </a:p>
        </p:txBody>
      </p:sp>
      <p:sp>
        <p:nvSpPr>
          <p:cNvPr id="5" name="blk5"/>
          <p:cNvSpPr/>
          <p:nvPr/>
        </p:nvSpPr>
        <p:spPr>
          <a:xfrm>
            <a:off x="2600000" y="1308352"/>
            <a:ext cx="1814000" cy="900000"/>
          </a:xfrm>
          <a:prstGeom prst="rect">
            <a:avLst/>
          </a:prstGeom>
          <a:solidFill>
            <a:srgbClr val="6B3FA0"/>
          </a:solidFill>
          <a:ln>
            <a:noFill/>
          </a:ln>
        </p:spPr>
        <p:txBody>
          <a:bodyPr wrap="square" lIns="152400" rIns="152400" rtlCol="0" anchor="ctr"/>
          <a:lstStyle/>
          <a:p>
            <a:pPr marL="0" indent="0" algn="ctr">
              <a:buNone/>
            </a:pPr>
            <a:r>
              <a:rPr lang="es-ES" sz="1100" b="1" dirty="0">
                <a:solidFill>
                  <a:srgbClr val="FFFFFF"/>
                </a:solidFill>
                <a:latin typeface="Calibri" pitchFamily="34" charset="0"/>
              </a:rPr>
              <a:t>Integra y Dispara (LIF)</a:t>
            </a:r>
          </a:p>
        </p:txBody>
      </p:sp>
      <p:sp>
        <p:nvSpPr>
          <p:cNvPr id="6" name="blk6"/>
          <p:cNvSpPr/>
          <p:nvPr/>
        </p:nvSpPr>
        <p:spPr>
          <a:xfrm>
            <a:off x="4743000" y="1308352"/>
            <a:ext cx="1814000" cy="900000"/>
          </a:xfrm>
          <a:prstGeom prst="rect">
            <a:avLst/>
          </a:prstGeom>
          <a:solidFill>
            <a:srgbClr val="C0508A"/>
          </a:solidFill>
          <a:ln>
            <a:noFill/>
          </a:ln>
        </p:spPr>
        <p:txBody>
          <a:bodyPr wrap="square" lIns="152400" rIns="152400" rtlCol="0" anchor="ctr"/>
          <a:lstStyle/>
          <a:p>
            <a:pPr marL="0" indent="0" algn="ctr">
              <a:buNone/>
            </a:pPr>
            <a:r>
              <a:rPr lang="es-ES" sz="1100" b="1" dirty="0">
                <a:solidFill>
                  <a:srgbClr val="FFFFFF"/>
                </a:solidFill>
                <a:latin typeface="Calibri" pitchFamily="34" charset="0"/>
              </a:rPr>
              <a:t>Echeveste (SSN)</a:t>
            </a:r>
          </a:p>
        </p:txBody>
      </p:sp>
      <p:sp>
        <p:nvSpPr>
          <p:cNvPr id="7" name="blk7"/>
          <p:cNvSpPr/>
          <p:nvPr/>
        </p:nvSpPr>
        <p:spPr>
          <a:xfrm>
            <a:off x="6886000" y="1308352"/>
            <a:ext cx="1814000" cy="900000"/>
          </a:xfrm>
          <a:prstGeom prst="rect">
            <a:avLst/>
          </a:prstGeom>
          <a:solidFill>
            <a:srgbClr val="DEB3F0"/>
          </a:solidFill>
          <a:ln>
            <a:noFill/>
          </a:ln>
        </p:spPr>
        <p:txBody>
          <a:bodyPr wrap="square" lIns="152400" rIns="152400" rtlCol="0" anchor="ctr"/>
          <a:lstStyle/>
          <a:p>
            <a:pPr marL="0" indent="0" algn="ctr">
              <a:buNone/>
            </a:pPr>
            <a:r>
              <a:rPr lang="es-ES" sz="1100" b="1" dirty="0">
                <a:solidFill>
                  <a:srgbClr val="FFFFFF"/>
                </a:solidFill>
                <a:latin typeface="Calibri" pitchFamily="34" charset="0"/>
              </a:rPr>
              <a:t>Modelos de tasa</a:t>
            </a:r>
          </a:p>
        </p:txBody>
      </p:sp>
      <p:sp>
        <p:nvSpPr>
          <p:cNvPr id="9" name="card9"/>
          <p:cNvSpPr/>
          <p:nvPr/>
        </p:nvSpPr>
        <p:spPr>
          <a:xfrm>
            <a:off x="457200" y="2522220"/>
            <a:ext cx="4000000" cy="2334260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txBody>
          <a:bodyPr wrap="square" lIns="152400" tIns="152400" rIns="152400" rtlCol="0" anchor="t"/>
          <a:lstStyle/>
          <a:p>
            <a:r>
              <a:rPr lang="es-ES" sz="1200" b="1" dirty="0" smtClean="0">
                <a:solidFill>
                  <a:srgbClr val="6B3FA0"/>
                </a:solidFill>
                <a:latin typeface="Georgia" pitchFamily="34" charset="0"/>
              </a:rPr>
              <a:t>Hodgkin-Huxley</a:t>
            </a:r>
            <a:endParaRPr lang="es-ES" sz="1200" b="1" dirty="0">
              <a:solidFill>
                <a:srgbClr val="6B3FA0"/>
              </a:solidFill>
              <a:latin typeface="Georgia" pitchFamily="34" charset="0"/>
            </a:endParaRPr>
          </a:p>
          <a:p>
            <a:pPr marL="0" indent="0">
              <a:buNone/>
            </a:pPr>
            <a:endParaRPr lang="es-ES" sz="1000" dirty="0"/>
          </a:p>
        </p:txBody>
      </p:sp>
      <p:sp>
        <p:nvSpPr>
          <p:cNvPr id="10" name="card10"/>
          <p:cNvSpPr/>
          <p:nvPr/>
        </p:nvSpPr>
        <p:spPr>
          <a:xfrm>
            <a:off x="4600000" y="2522220"/>
            <a:ext cx="4100000" cy="2334260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txBody>
          <a:bodyPr wrap="square" lIns="152400" tIns="152400" rIns="152400" rtlCol="0" anchor="t"/>
          <a:lstStyle/>
          <a:p>
            <a:r>
              <a:rPr lang="es-ES" sz="1200" b="1" dirty="0">
                <a:solidFill>
                  <a:srgbClr val="6B3FA0"/>
                </a:solidFill>
                <a:latin typeface="Georgia" pitchFamily="34" charset="0"/>
              </a:rPr>
              <a:t>Integra y Dispara </a:t>
            </a:r>
          </a:p>
          <a:p>
            <a:pPr marL="0" indent="0">
              <a:buNone/>
            </a:pPr>
            <a:endParaRPr lang="es-ES" sz="1000" dirty="0"/>
          </a:p>
        </p:txBody>
      </p:sp>
      <p:pic>
        <p:nvPicPr>
          <p:cNvPr id="4098" name="Picture 2" descr="The encoding procedure of the LIF neuron model. Top shows an... | Download  Scientific Diagram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9" t="1262" r="1059"/>
          <a:stretch/>
        </p:blipFill>
        <p:spPr bwMode="auto">
          <a:xfrm rot="10800000" flipH="1" flipV="1">
            <a:off x="4861204" y="2967988"/>
            <a:ext cx="3577591" cy="1624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Imagen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820" y="2967988"/>
            <a:ext cx="3750760" cy="1624727"/>
          </a:xfrm>
          <a:prstGeom prst="rect">
            <a:avLst/>
          </a:prstGeom>
        </p:spPr>
      </p:pic>
      <p:sp>
        <p:nvSpPr>
          <p:cNvPr id="12" name="TextBox 9"/>
          <p:cNvSpPr txBox="1"/>
          <p:nvPr/>
        </p:nvSpPr>
        <p:spPr>
          <a:xfrm>
            <a:off x="442400" y="899567"/>
            <a:ext cx="3657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 dirty="0">
                <a:solidFill>
                  <a:srgbClr val="6B3FA0"/>
                </a:solidFill>
                <a:latin typeface="Calibri"/>
              </a:rPr>
              <a:t>← </a:t>
            </a:r>
            <a:r>
              <a:rPr sz="1200" b="0" i="1" dirty="0" err="1">
                <a:solidFill>
                  <a:srgbClr val="6B3FA0"/>
                </a:solidFill>
                <a:latin typeface="Calibri"/>
              </a:rPr>
              <a:t>Más</a:t>
            </a:r>
            <a:r>
              <a:rPr sz="1200" b="0" i="1" dirty="0">
                <a:solidFill>
                  <a:srgbClr val="6B3FA0"/>
                </a:solidFill>
                <a:latin typeface="Calibri"/>
              </a:rPr>
              <a:t> </a:t>
            </a:r>
            <a:r>
              <a:rPr sz="1200" b="0" i="1" dirty="0" err="1">
                <a:solidFill>
                  <a:srgbClr val="6B3FA0"/>
                </a:solidFill>
                <a:latin typeface="Calibri"/>
              </a:rPr>
              <a:t>detalle</a:t>
            </a:r>
            <a:r>
              <a:rPr sz="1200" b="0" i="1" dirty="0">
                <a:solidFill>
                  <a:srgbClr val="6B3FA0"/>
                </a:solidFill>
                <a:latin typeface="Calibri"/>
              </a:rPr>
              <a:t> </a:t>
            </a:r>
            <a:r>
              <a:rPr sz="1200" b="0" i="1" dirty="0" err="1">
                <a:solidFill>
                  <a:srgbClr val="6B3FA0"/>
                </a:solidFill>
                <a:latin typeface="Calibri"/>
              </a:rPr>
              <a:t>biofísico</a:t>
            </a:r>
            <a:endParaRPr sz="1200" b="0" i="1" dirty="0">
              <a:solidFill>
                <a:srgbClr val="6B3FA0"/>
              </a:solidFill>
              <a:latin typeface="Calibri"/>
            </a:endParaRPr>
          </a:p>
        </p:txBody>
      </p:sp>
      <p:sp>
        <p:nvSpPr>
          <p:cNvPr id="14" name="TextBox 10"/>
          <p:cNvSpPr txBox="1"/>
          <p:nvPr/>
        </p:nvSpPr>
        <p:spPr>
          <a:xfrm>
            <a:off x="5029200" y="899568"/>
            <a:ext cx="3657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C084D8"/>
                </a:solidFill>
                <a:latin typeface="Calibri"/>
              </a:rPr>
              <a:t>Más tratable computacionalmente →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" name="Text 1"/>
          <p:cNvSpPr/>
          <p:nvPr/>
        </p:nvSpPr>
        <p:spPr>
          <a:xfrm>
            <a:off x="395448" y="5384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1F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sistema visual</a:t>
            </a:r>
            <a:endParaRPr lang="en-US" sz="2800" dirty="0"/>
          </a:p>
        </p:txBody>
      </p:sp>
      <p:pic>
        <p:nvPicPr>
          <p:cNvPr id="4" name="Image 0" descr="/home/claude/img_user/v1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92040" y="1109980"/>
            <a:ext cx="3931920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12024" y="1292860"/>
            <a:ext cx="438912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7C4DBA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49184" y="1430020"/>
            <a:ext cx="457200" cy="457200"/>
          </a:xfrm>
          <a:prstGeom prst="ellipse">
            <a:avLst/>
          </a:prstGeom>
          <a:solidFill>
            <a:srgbClr val="6B3FA0"/>
          </a:solidFill>
          <a:ln/>
        </p:spPr>
      </p:sp>
      <p:sp>
        <p:nvSpPr>
          <p:cNvPr id="7" name="Text 4"/>
          <p:cNvSpPr/>
          <p:nvPr/>
        </p:nvSpPr>
        <p:spPr>
          <a:xfrm>
            <a:off x="449184" y="14300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43544" y="13385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3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Retina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43544" y="16586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Fotorreceptores → células ganglionares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12024" y="2298700"/>
            <a:ext cx="438912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7C4DBA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9184" y="2435860"/>
            <a:ext cx="457200" cy="457200"/>
          </a:xfrm>
          <a:prstGeom prst="ellipse">
            <a:avLst/>
          </a:prstGeom>
          <a:solidFill>
            <a:srgbClr val="6B3FA0"/>
          </a:solidFill>
          <a:ln/>
        </p:spPr>
      </p:sp>
      <p:sp>
        <p:nvSpPr>
          <p:cNvPr id="12" name="Text 9"/>
          <p:cNvSpPr/>
          <p:nvPr/>
        </p:nvSpPr>
        <p:spPr>
          <a:xfrm>
            <a:off x="449184" y="24358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43544" y="23444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smtClean="0">
                <a:solidFill>
                  <a:srgbClr val="6B3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Núcleo Geniculado Lateral (LGN)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043544" y="26644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Relevo y modulación cortical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12024" y="3304540"/>
            <a:ext cx="438912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7C4DBA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49184" y="3441700"/>
            <a:ext cx="457200" cy="457200"/>
          </a:xfrm>
          <a:prstGeom prst="ellipse">
            <a:avLst/>
          </a:prstGeom>
          <a:solidFill>
            <a:srgbClr val="6B3FA0"/>
          </a:solidFill>
          <a:ln/>
        </p:spPr>
      </p:sp>
      <p:sp>
        <p:nvSpPr>
          <p:cNvPr id="17" name="Text 14"/>
          <p:cNvSpPr/>
          <p:nvPr/>
        </p:nvSpPr>
        <p:spPr>
          <a:xfrm>
            <a:off x="449184" y="34417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043544" y="33502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smtClean="0">
                <a:solidFill>
                  <a:srgbClr val="6B3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Corteza visual primaria (V1)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043544" y="36703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Selectividad a orientación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95448" y="42646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C08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Hubel &amp; Wiesel — Nobel 1981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V1 Hipercolumn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" name="title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2800" b="1" dirty="0">
                <a:solidFill>
                  <a:srgbClr val="3D1F6D"/>
                </a:solidFill>
                <a:latin typeface="Georgia" pitchFamily="34" charset="0"/>
              </a:rPr>
              <a:t>V1: La hipercolumna</a:t>
            </a:r>
          </a:p>
        </p:txBody>
      </p:sp>
      <p:sp>
        <p:nvSpPr>
          <p:cNvPr id="4" name="main"/>
          <p:cNvSpPr/>
          <p:nvPr/>
        </p:nvSpPr>
        <p:spPr>
          <a:xfrm>
            <a:off x="457200" y="850000"/>
            <a:ext cx="4400000" cy="4000000"/>
          </a:xfrm>
          <a:prstGeom prst="rect">
            <a:avLst/>
          </a:prstGeom>
          <a:solidFill>
            <a:srgbClr val="3D1F6D"/>
          </a:solidFill>
          <a:ln>
            <a:noFill/>
          </a:ln>
        </p:spPr>
        <p:txBody>
          <a:bodyPr wrap="square" lIns="228600" tIns="228600" rIns="228600" rtlCol="0" anchor="t"/>
          <a:lstStyle/>
          <a:p>
            <a:pPr marL="0" indent="0">
              <a:buNone/>
            </a:pPr>
            <a:r>
              <a:rPr lang="es-ES" sz="1800" b="1" dirty="0">
                <a:solidFill>
                  <a:srgbClr val="FFFFFF"/>
                </a:solidFill>
                <a:latin typeface="Georgia" pitchFamily="34" charset="0"/>
              </a:rPr>
              <a:t>Hipercolumna (~1 mm²)</a:t>
            </a:r>
          </a:p>
          <a:p>
            <a:pPr marL="0" indent="0">
              <a:buNone/>
            </a:pPr>
            <a:endParaRPr lang="es-ES" sz="1100" dirty="0"/>
          </a:p>
          <a:p>
            <a:pPr marL="0" indent="0">
              <a:buNone/>
            </a:pPr>
            <a:r>
              <a:rPr lang="es-ES" sz="1100" dirty="0">
                <a:solidFill>
                  <a:srgbClr val="C084D8"/>
                </a:solidFill>
                <a:latin typeface="Calibri" pitchFamily="34" charset="0"/>
              </a:rPr>
              <a:t>Unidad funcional de la corteza visual primaria</a:t>
            </a:r>
          </a:p>
          <a:p>
            <a:pPr marL="0" indent="0">
              <a:buNone/>
            </a:pPr>
            <a:endParaRPr lang="es-ES" sz="1100" dirty="0"/>
          </a:p>
          <a:p>
            <a:pPr marL="0" indent="0">
              <a:buNone/>
            </a:pPr>
            <a:r>
              <a:rPr lang="es-ES" sz="1100" dirty="0">
                <a:solidFill>
                  <a:srgbClr val="FFFFFF"/>
                </a:solidFill>
                <a:latin typeface="Calibri" pitchFamily="34" charset="0"/>
              </a:rPr>
              <a:t>Contiene columnas para TODAS las orientaciones posibles </a:t>
            </a:r>
            <a:endParaRPr lang="es-ES" sz="1100" dirty="0" smtClean="0">
              <a:solidFill>
                <a:srgbClr val="FFFFFF"/>
              </a:solidFill>
              <a:latin typeface="Calibri" pitchFamily="34" charset="0"/>
            </a:endParaRPr>
          </a:p>
          <a:p>
            <a:pPr marL="0" indent="0">
              <a:buNone/>
            </a:pPr>
            <a:endParaRPr lang="es-ES" sz="1100" dirty="0">
              <a:solidFill>
                <a:srgbClr val="FFFFFF"/>
              </a:solidFill>
              <a:latin typeface="Calibri" pitchFamily="34" charset="0"/>
            </a:endParaRPr>
          </a:p>
          <a:p>
            <a:pPr marL="0" indent="0">
              <a:buNone/>
            </a:pPr>
            <a:r>
              <a:rPr lang="es-ES" sz="1100" dirty="0" smtClean="0">
                <a:solidFill>
                  <a:srgbClr val="FFFFFF"/>
                </a:solidFill>
                <a:latin typeface="Calibri" pitchFamily="34" charset="0"/>
              </a:rPr>
              <a:t>(-</a:t>
            </a:r>
            <a:r>
              <a:rPr lang="es-ES" sz="1100" dirty="0">
                <a:solidFill>
                  <a:srgbClr val="FFFFFF"/>
                </a:solidFill>
                <a:latin typeface="Calibri" pitchFamily="34" charset="0"/>
              </a:rPr>
              <a:t>90 a 90 grados)</a:t>
            </a:r>
          </a:p>
          <a:p>
            <a:pPr marL="0" indent="0">
              <a:buNone/>
            </a:pPr>
            <a:endParaRPr lang="es-ES" sz="1100" dirty="0"/>
          </a:p>
          <a:p>
            <a:pPr marL="0" indent="0">
              <a:buNone/>
            </a:pPr>
            <a:r>
              <a:rPr lang="es-ES" sz="1100" dirty="0">
                <a:solidFill>
                  <a:srgbClr val="FFFFFF"/>
                </a:solidFill>
                <a:latin typeface="Calibri" pitchFamily="34" charset="0"/>
              </a:rPr>
              <a:t>Representa ambos ojos (columnas de dominancia ocular)</a:t>
            </a:r>
          </a:p>
          <a:p>
            <a:pPr marL="0" indent="0">
              <a:buNone/>
            </a:pPr>
            <a:endParaRPr lang="es-ES" sz="1100" dirty="0"/>
          </a:p>
          <a:p>
            <a:pPr marL="0" indent="0">
              <a:buNone/>
            </a:pPr>
            <a:r>
              <a:rPr lang="es-ES" sz="1100" dirty="0">
                <a:solidFill>
                  <a:srgbClr val="FFFFFF"/>
                </a:solidFill>
                <a:latin typeface="Calibri" pitchFamily="34" charset="0"/>
              </a:rPr>
              <a:t>Cada neurona responde selectivamente a bordes en su orientacion preferida</a:t>
            </a:r>
          </a:p>
          <a:p>
            <a:pPr marL="0" indent="0">
              <a:buNone/>
            </a:pPr>
            <a:endParaRPr lang="es-ES" sz="1100" dirty="0"/>
          </a:p>
          <a:p>
            <a:pPr marL="0" indent="0">
              <a:buNone/>
            </a:pPr>
            <a:r>
              <a:rPr lang="es-ES" sz="1100" i="1" dirty="0">
                <a:solidFill>
                  <a:srgbClr val="C084D8"/>
                </a:solidFill>
                <a:latin typeface="Calibri" pitchFamily="34" charset="0"/>
              </a:rPr>
              <a:t>El modelo de Echeveste simula exactamente una hipercolumna</a:t>
            </a:r>
          </a:p>
        </p:txBody>
      </p:sp>
      <p:sp>
        <p:nvSpPr>
          <p:cNvPr id="5" name="card5"/>
          <p:cNvSpPr/>
          <p:nvPr/>
        </p:nvSpPr>
        <p:spPr>
          <a:xfrm>
            <a:off x="5185520" y="850000"/>
            <a:ext cx="3600000" cy="1178613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txBody>
          <a:bodyPr wrap="square" lIns="152400" tIns="152400" rIns="152400" rtlCol="0" anchor="t"/>
          <a:lstStyle/>
          <a:p>
            <a:pPr marL="0" indent="0">
              <a:buNone/>
            </a:pPr>
            <a:r>
              <a:rPr lang="es-ES" sz="1200" b="1" dirty="0">
                <a:solidFill>
                  <a:srgbClr val="6B3FA0"/>
                </a:solidFill>
                <a:latin typeface="Georgia" pitchFamily="34" charset="0"/>
              </a:rPr>
              <a:t>Selectividad de orientacion</a:t>
            </a:r>
          </a:p>
          <a:p>
            <a:pPr marL="0" indent="0">
              <a:buNone/>
            </a:pPr>
            <a:endParaRPr lang="es-ES" sz="1000" dirty="0"/>
          </a:p>
          <a:p>
            <a:pPr marL="0" indent="0">
              <a:buNone/>
            </a:pPr>
            <a:r>
              <a:rPr lang="es-ES" sz="1000" dirty="0">
                <a:solidFill>
                  <a:srgbClr val="5A5A6A"/>
                </a:solidFill>
                <a:latin typeface="Calibri" pitchFamily="34" charset="0"/>
              </a:rPr>
              <a:t>Hubel &amp; Wiesel (Nobel 1981) descubrieron que las neuronas de V1 se activan preferentemente ante bordes en angulos especificos. Esta es la base de la percepcion de formas.</a:t>
            </a:r>
          </a:p>
        </p:txBody>
      </p:sp>
      <p:sp>
        <p:nvSpPr>
          <p:cNvPr id="6" name="card6"/>
          <p:cNvSpPr/>
          <p:nvPr/>
        </p:nvSpPr>
        <p:spPr>
          <a:xfrm>
            <a:off x="5185520" y="2294731"/>
            <a:ext cx="3600000" cy="1178613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txBody>
          <a:bodyPr wrap="square" lIns="152400" tIns="152400" rIns="152400" rtlCol="0" anchor="t"/>
          <a:lstStyle/>
          <a:p>
            <a:pPr marL="0" indent="0">
              <a:buNone/>
            </a:pPr>
            <a:r>
              <a:rPr lang="es-ES" sz="1200" b="1" dirty="0" smtClean="0">
                <a:solidFill>
                  <a:srgbClr val="6B3FA0"/>
                </a:solidFill>
                <a:latin typeface="Georgia" pitchFamily="34" charset="0"/>
              </a:rPr>
              <a:t>Anillo de orientaciones</a:t>
            </a:r>
            <a:endParaRPr lang="es-ES" sz="1200" b="1" dirty="0">
              <a:solidFill>
                <a:srgbClr val="6B3FA0"/>
              </a:solidFill>
              <a:latin typeface="Georgia" pitchFamily="34" charset="0"/>
            </a:endParaRPr>
          </a:p>
          <a:p>
            <a:pPr marL="0" indent="0">
              <a:buNone/>
            </a:pPr>
            <a:endParaRPr lang="es-ES" sz="1000" dirty="0"/>
          </a:p>
          <a:p>
            <a:pPr marL="0" indent="0">
              <a:buNone/>
            </a:pPr>
            <a:r>
              <a:rPr lang="es-ES" sz="1000" dirty="0">
                <a:solidFill>
                  <a:srgbClr val="5A5A6A"/>
                </a:solidFill>
                <a:latin typeface="Calibri" pitchFamily="34" charset="0"/>
              </a:rPr>
              <a:t>Las orientaciones se organizan de forma continua. Las neuronas con orientaciones similares estan conectadas mas fuertemente: conectividad dependiente de delta-theta.</a:t>
            </a:r>
          </a:p>
        </p:txBody>
      </p:sp>
      <p:sp>
        <p:nvSpPr>
          <p:cNvPr id="7" name="card7"/>
          <p:cNvSpPr/>
          <p:nvPr/>
        </p:nvSpPr>
        <p:spPr>
          <a:xfrm>
            <a:off x="5185520" y="3739462"/>
            <a:ext cx="3600000" cy="1110538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txBody>
          <a:bodyPr wrap="square" lIns="152400" tIns="152400" rIns="152400" rtlCol="0" anchor="t"/>
          <a:lstStyle/>
          <a:p>
            <a:pPr marL="0" indent="0">
              <a:buNone/>
            </a:pPr>
            <a:r>
              <a:rPr lang="es-ES" sz="1200" b="1" dirty="0">
                <a:solidFill>
                  <a:srgbClr val="6B3FA0"/>
                </a:solidFill>
                <a:latin typeface="Georgia" pitchFamily="34" charset="0"/>
              </a:rPr>
              <a:t>Por que importa</a:t>
            </a:r>
          </a:p>
          <a:p>
            <a:pPr marL="0" indent="0">
              <a:buNone/>
            </a:pPr>
            <a:endParaRPr lang="es-ES" sz="1000" dirty="0"/>
          </a:p>
          <a:p>
            <a:pPr marL="0" indent="0">
              <a:buNone/>
            </a:pPr>
            <a:r>
              <a:rPr lang="es-ES" sz="1000" dirty="0" smtClean="0">
                <a:solidFill>
                  <a:srgbClr val="5A5A6A"/>
                </a:solidFill>
                <a:latin typeface="Calibri" pitchFamily="34" charset="0"/>
              </a:rPr>
              <a:t>Esta </a:t>
            </a:r>
            <a:r>
              <a:rPr lang="es-ES" sz="1000" dirty="0">
                <a:solidFill>
                  <a:srgbClr val="5A5A6A"/>
                </a:solidFill>
                <a:latin typeface="Calibri" pitchFamily="34" charset="0"/>
              </a:rPr>
              <a:t>arquitectura permite representar la orientacion de cualquier borde visual con poblaciones de neuronas que </a:t>
            </a:r>
            <a:r>
              <a:rPr lang="es-ES" sz="1000" dirty="0" smtClean="0">
                <a:solidFill>
                  <a:srgbClr val="5A5A6A"/>
                </a:solidFill>
                <a:latin typeface="Calibri" pitchFamily="34" charset="0"/>
              </a:rPr>
              <a:t>reaccionan a </a:t>
            </a:r>
            <a:r>
              <a:rPr lang="es-ES" sz="1000" dirty="0">
                <a:solidFill>
                  <a:srgbClr val="5A5A6A"/>
                </a:solidFill>
                <a:latin typeface="Calibri" pitchFamily="34" charset="0"/>
              </a:rPr>
              <a:t>su orientacion preferida.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iltros de Gabo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" name="title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2800" b="1" dirty="0">
                <a:solidFill>
                  <a:srgbClr val="3D1F6D"/>
                </a:solidFill>
                <a:latin typeface="Georgia" pitchFamily="34" charset="0"/>
              </a:rPr>
              <a:t>Filtros de Gabor en V1</a:t>
            </a:r>
          </a:p>
        </p:txBody>
      </p:sp>
      <p:pic>
        <p:nvPicPr>
          <p:cNvPr id="4" name="img4" descr="gabor-ban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9065" y="1400000"/>
            <a:ext cx="4800000" cy="3200000"/>
          </a:xfrm>
          <a:prstGeom prst="rect">
            <a:avLst/>
          </a:prstGeom>
        </p:spPr>
      </p:pic>
      <p:sp>
        <p:nvSpPr>
          <p:cNvPr id="5" name="card5"/>
          <p:cNvSpPr/>
          <p:nvPr/>
        </p:nvSpPr>
        <p:spPr>
          <a:xfrm>
            <a:off x="5200000" y="1142221"/>
            <a:ext cx="3600000" cy="995666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txBody>
          <a:bodyPr wrap="square" lIns="152400" tIns="152400" rIns="152400" rtlCol="0" anchor="t"/>
          <a:lstStyle/>
          <a:p>
            <a:pPr marL="0" indent="0">
              <a:buNone/>
            </a:pPr>
            <a:r>
              <a:rPr lang="es-ES" sz="1200" b="1" dirty="0">
                <a:solidFill>
                  <a:srgbClr val="6B3FA0"/>
                </a:solidFill>
                <a:latin typeface="Georgia" pitchFamily="34" charset="0"/>
              </a:rPr>
              <a:t>¿Qué son los filtros de Gabor?</a:t>
            </a:r>
          </a:p>
          <a:p>
            <a:pPr marL="0" indent="0">
              <a:buNone/>
            </a:pPr>
            <a:endParaRPr lang="es-ES" sz="1000" dirty="0"/>
          </a:p>
          <a:p>
            <a:r>
              <a:rPr lang="es-ES" sz="1000" dirty="0">
                <a:solidFill>
                  <a:srgbClr val="5A5A6A"/>
                </a:solidFill>
                <a:latin typeface="Calibri" pitchFamily="34" charset="0"/>
              </a:rPr>
              <a:t>Los campos receptivos de V1 se parecen a filtros de </a:t>
            </a:r>
            <a:r>
              <a:rPr lang="es-ES" sz="1000" dirty="0" err="1">
                <a:solidFill>
                  <a:srgbClr val="5A5A6A"/>
                </a:solidFill>
                <a:latin typeface="Calibri" pitchFamily="34" charset="0"/>
              </a:rPr>
              <a:t>Gabor</a:t>
            </a:r>
            <a:r>
              <a:rPr lang="es-ES" sz="1000" dirty="0">
                <a:solidFill>
                  <a:srgbClr val="5A5A6A"/>
                </a:solidFill>
                <a:latin typeface="Calibri" pitchFamily="34" charset="0"/>
              </a:rPr>
              <a:t>. Detectan bordes y patrones locales de forma muy precisa.</a:t>
            </a:r>
          </a:p>
        </p:txBody>
      </p:sp>
      <p:sp>
        <p:nvSpPr>
          <p:cNvPr id="6" name="card6"/>
          <p:cNvSpPr/>
          <p:nvPr/>
        </p:nvSpPr>
        <p:spPr>
          <a:xfrm>
            <a:off x="5200000" y="2300000"/>
            <a:ext cx="3600000" cy="1267211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txBody>
          <a:bodyPr wrap="square" lIns="152400" tIns="152400" rIns="152400" rtlCol="0" anchor="t"/>
          <a:lstStyle/>
          <a:p>
            <a:r>
              <a:rPr lang="es-ES" sz="1200" b="1" dirty="0" smtClean="0">
                <a:solidFill>
                  <a:srgbClr val="6B3FA0"/>
                </a:solidFill>
                <a:latin typeface="Georgia" pitchFamily="34" charset="0"/>
              </a:rPr>
              <a:t>De </a:t>
            </a:r>
            <a:r>
              <a:rPr lang="es-ES" sz="1200" b="1" dirty="0">
                <a:solidFill>
                  <a:srgbClr val="6B3FA0"/>
                </a:solidFill>
                <a:latin typeface="Georgia" pitchFamily="34" charset="0"/>
              </a:rPr>
              <a:t>LGN a V1</a:t>
            </a:r>
            <a:endParaRPr lang="es-ES" sz="1200" b="1" dirty="0" smtClean="0">
              <a:solidFill>
                <a:srgbClr val="6B3FA0"/>
              </a:solidFill>
              <a:latin typeface="Georgia" pitchFamily="34" charset="0"/>
            </a:endParaRPr>
          </a:p>
          <a:p>
            <a:pPr marL="0" indent="0">
              <a:buNone/>
            </a:pPr>
            <a:endParaRPr lang="es-ES" sz="1000" dirty="0" smtClean="0"/>
          </a:p>
          <a:p>
            <a:r>
              <a:rPr lang="es-ES" sz="1000" dirty="0">
                <a:solidFill>
                  <a:srgbClr val="5A5A6A"/>
                </a:solidFill>
                <a:latin typeface="Calibri" pitchFamily="34" charset="0"/>
              </a:rPr>
              <a:t>Las neuronas del Lateral </a:t>
            </a:r>
            <a:r>
              <a:rPr lang="es-ES" sz="1000" dirty="0" err="1">
                <a:solidFill>
                  <a:srgbClr val="5A5A6A"/>
                </a:solidFill>
                <a:latin typeface="Calibri" pitchFamily="34" charset="0"/>
              </a:rPr>
              <a:t>Geniculate</a:t>
            </a:r>
            <a:r>
              <a:rPr lang="es-ES" sz="1000" dirty="0">
                <a:solidFill>
                  <a:srgbClr val="5A5A6A"/>
                </a:solidFill>
                <a:latin typeface="Calibri" pitchFamily="34" charset="0"/>
              </a:rPr>
              <a:t> </a:t>
            </a:r>
            <a:r>
              <a:rPr lang="es-ES" sz="1000" dirty="0" err="1">
                <a:solidFill>
                  <a:srgbClr val="5A5A6A"/>
                </a:solidFill>
                <a:latin typeface="Calibri" pitchFamily="34" charset="0"/>
              </a:rPr>
              <a:t>Nucleus</a:t>
            </a:r>
            <a:r>
              <a:rPr lang="es-ES" sz="1000" dirty="0">
                <a:solidFill>
                  <a:srgbClr val="5A5A6A"/>
                </a:solidFill>
                <a:latin typeface="Calibri" pitchFamily="34" charset="0"/>
              </a:rPr>
              <a:t> detectan luz y oscuridad. Sus señales se combinan en V1 para que las neuronas respondan a bordes y orientaciones.</a:t>
            </a:r>
          </a:p>
        </p:txBody>
      </p:sp>
      <p:sp>
        <p:nvSpPr>
          <p:cNvPr id="7" name="card7"/>
          <p:cNvSpPr/>
          <p:nvPr/>
        </p:nvSpPr>
        <p:spPr>
          <a:xfrm>
            <a:off x="5200000" y="3729324"/>
            <a:ext cx="3600000" cy="995666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txBody>
          <a:bodyPr wrap="square" lIns="152400" tIns="152400" rIns="152400" rtlCol="0" anchor="t"/>
          <a:lstStyle/>
          <a:p>
            <a:r>
              <a:rPr lang="es-ES" sz="1200" b="1" dirty="0">
                <a:solidFill>
                  <a:srgbClr val="6B3FA0"/>
                </a:solidFill>
                <a:latin typeface="Georgia" pitchFamily="34" charset="0"/>
              </a:rPr>
              <a:t>Por qué </a:t>
            </a:r>
            <a:r>
              <a:rPr lang="es-ES" sz="1200" b="1" dirty="0" smtClean="0">
                <a:solidFill>
                  <a:srgbClr val="6B3FA0"/>
                </a:solidFill>
                <a:latin typeface="Georgia" pitchFamily="34" charset="0"/>
              </a:rPr>
              <a:t>importa</a:t>
            </a:r>
          </a:p>
          <a:p>
            <a:endParaRPr lang="es-ES" sz="1000" dirty="0" smtClean="0"/>
          </a:p>
          <a:p>
            <a:r>
              <a:rPr lang="es-ES" sz="1000" dirty="0" smtClean="0">
                <a:solidFill>
                  <a:srgbClr val="5A5A6A"/>
                </a:solidFill>
                <a:latin typeface="Calibri" pitchFamily="34" charset="0"/>
              </a:rPr>
              <a:t>Estos </a:t>
            </a:r>
            <a:r>
              <a:rPr lang="es-ES" sz="1000" dirty="0">
                <a:solidFill>
                  <a:srgbClr val="5A5A6A"/>
                </a:solidFill>
                <a:latin typeface="Calibri" pitchFamily="34" charset="0"/>
              </a:rPr>
              <a:t>filtros explican cómo V1 reconoce formas básicas. Son la base de muchos modelos de visión y visión por computadora.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ransicion">
    <p:bg>
      <p:bgPr>
        <a:solidFill>
          <a:srgbClr val="3D1F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" name="botbar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4" name="title"/>
          <p:cNvSpPr/>
          <p:nvPr/>
        </p:nvSpPr>
        <p:spPr>
          <a:xfrm>
            <a:off x="548640" y="1371600"/>
            <a:ext cx="8046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ES" sz="3600" b="1" dirty="0">
                <a:solidFill>
                  <a:srgbClr val="FFFFFF"/>
                </a:solidFill>
                <a:latin typeface="Georgia" pitchFamily="34" charset="0"/>
              </a:rPr>
              <a:t>Más allá de la visión</a:t>
            </a:r>
          </a:p>
        </p:txBody>
      </p:sp>
      <p:sp>
        <p:nvSpPr>
          <p:cNvPr id="5" name="subtitle"/>
          <p:cNvSpPr/>
          <p:nvPr/>
        </p:nvSpPr>
        <p:spPr>
          <a:xfrm>
            <a:off x="548640" y="32004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600" i="1" dirty="0">
                <a:solidFill>
                  <a:srgbClr val="C084D8"/>
                </a:solidFill>
                <a:latin typeface="Calibri" pitchFamily="34" charset="0"/>
              </a:rPr>
              <a:t>La integración multisensorial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Integracion multisensori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" name="title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2800" b="1" dirty="0">
                <a:solidFill>
                  <a:srgbClr val="3D1F6D"/>
                </a:solidFill>
                <a:latin typeface="Georgia" pitchFamily="34" charset="0"/>
              </a:rPr>
              <a:t>Integracion multisensorial</a:t>
            </a:r>
          </a:p>
        </p:txBody>
      </p:sp>
      <p:sp>
        <p:nvSpPr>
          <p:cNvPr id="4" name="question"/>
          <p:cNvSpPr/>
          <p:nvPr/>
        </p:nvSpPr>
        <p:spPr>
          <a:xfrm>
            <a:off x="457200" y="800000"/>
            <a:ext cx="8229600" cy="700000"/>
          </a:xfrm>
          <a:prstGeom prst="rect">
            <a:avLst/>
          </a:prstGeom>
          <a:solidFill>
            <a:srgbClr val="3D1F6D"/>
          </a:solidFill>
          <a:ln>
            <a:noFill/>
          </a:ln>
        </p:spPr>
        <p:txBody>
          <a:bodyPr wrap="square" lIns="228600" rtlCol="0" anchor="ctr"/>
          <a:lstStyle/>
          <a:p>
            <a:pPr marL="0" indent="0" algn="ctr">
              <a:buNone/>
            </a:pPr>
            <a:r>
              <a:rPr lang="es-ES" sz="1600" b="1" dirty="0">
                <a:solidFill>
                  <a:srgbClr val="FFFFFF"/>
                </a:solidFill>
                <a:latin typeface="Georgia" pitchFamily="34" charset="0"/>
              </a:rPr>
              <a:t>El cerebro combina informacion de multiples sentidos. ¿Como decide cuales integrar?</a:t>
            </a:r>
          </a:p>
        </p:txBody>
      </p:sp>
      <p:pic>
        <p:nvPicPr>
          <p:cNvPr id="5" name="ventrilocuo" descr="efecto ventrilocuo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650000"/>
            <a:ext cx="3800000" cy="2800000"/>
          </a:xfrm>
          <a:prstGeom prst="rect">
            <a:avLst/>
          </a:prstGeom>
        </p:spPr>
      </p:pic>
      <p:sp>
        <p:nvSpPr>
          <p:cNvPr id="6" name="card6"/>
          <p:cNvSpPr/>
          <p:nvPr/>
        </p:nvSpPr>
        <p:spPr>
          <a:xfrm>
            <a:off x="4450000" y="1834432"/>
            <a:ext cx="4200000" cy="1033994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txBody>
          <a:bodyPr wrap="square" lIns="152400" tIns="152400" rIns="152400" rtlCol="0" anchor="t"/>
          <a:lstStyle/>
          <a:p>
            <a:pPr marL="0" indent="0">
              <a:buNone/>
            </a:pPr>
            <a:r>
              <a:rPr lang="es-ES" sz="1200" b="1" dirty="0">
                <a:solidFill>
                  <a:srgbClr val="E87070"/>
                </a:solidFill>
                <a:latin typeface="Georgia" pitchFamily="34" charset="0"/>
              </a:rPr>
              <a:t>El efecto ventrilocuo</a:t>
            </a:r>
          </a:p>
          <a:p>
            <a:pPr marL="0" indent="0">
              <a:buNone/>
            </a:pPr>
            <a:endParaRPr lang="es-ES" sz="1000" dirty="0"/>
          </a:p>
          <a:p>
            <a:pPr marL="0" indent="0">
              <a:buNone/>
            </a:pPr>
            <a:r>
              <a:rPr lang="es-ES" sz="1000" dirty="0">
                <a:solidFill>
                  <a:srgbClr val="5A5A6A"/>
                </a:solidFill>
                <a:latin typeface="Calibri" pitchFamily="34" charset="0"/>
              </a:rPr>
              <a:t>La vision captura la localizacion del sonido. El cerebro fusiona las dos señales porque estima que provienen de la misma fuente.</a:t>
            </a:r>
          </a:p>
        </p:txBody>
      </p:sp>
      <p:sp>
        <p:nvSpPr>
          <p:cNvPr id="7" name="card7"/>
          <p:cNvSpPr/>
          <p:nvPr/>
        </p:nvSpPr>
        <p:spPr>
          <a:xfrm>
            <a:off x="4450000" y="3151429"/>
            <a:ext cx="4200000" cy="1064138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txBody>
          <a:bodyPr wrap="square" lIns="152400" tIns="152400" rIns="152400" rtlCol="0" anchor="t"/>
          <a:lstStyle/>
          <a:p>
            <a:pPr marL="0" indent="0">
              <a:buNone/>
            </a:pPr>
            <a:r>
              <a:rPr lang="es-ES" sz="1200" b="1" dirty="0">
                <a:solidFill>
                  <a:srgbClr val="6B3FA0"/>
                </a:solidFill>
                <a:latin typeface="Georgia" pitchFamily="34" charset="0"/>
              </a:rPr>
              <a:t>Inferencia causal</a:t>
            </a:r>
          </a:p>
          <a:p>
            <a:pPr marL="0" indent="0">
              <a:buNone/>
            </a:pPr>
            <a:endParaRPr lang="es-ES" sz="1000" dirty="0"/>
          </a:p>
          <a:p>
            <a:pPr marL="0" indent="0">
              <a:buNone/>
            </a:pPr>
            <a:r>
              <a:rPr lang="es-ES" sz="1000" dirty="0">
                <a:solidFill>
                  <a:srgbClr val="5A5A6A"/>
                </a:solidFill>
                <a:latin typeface="Calibri" pitchFamily="34" charset="0"/>
              </a:rPr>
              <a:t>Cuando la disparidad espaciotemporal es grande, el cerebro separa las fuentes: vision y sonido se perciben como independientes.</a:t>
            </a:r>
          </a:p>
        </p:txBody>
      </p:sp>
      <p:sp>
        <p:nvSpPr>
          <p:cNvPr id="8" name="bottom"/>
          <p:cNvSpPr/>
          <p:nvPr/>
        </p:nvSpPr>
        <p:spPr>
          <a:xfrm>
            <a:off x="457200" y="4550000"/>
            <a:ext cx="8229600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1200" i="1" dirty="0">
                <a:solidFill>
                  <a:srgbClr val="6B3FA0"/>
                </a:solidFill>
                <a:latin typeface="Calibri" pitchFamily="34" charset="0"/>
              </a:rPr>
              <a:t>Su cerebro hace inferencia bayesiana en tiempo real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" name="title"/>
          <p:cNvSpPr/>
          <p:nvPr/>
        </p:nvSpPr>
        <p:spPr>
          <a:xfrm>
            <a:off x="3877056" y="453102"/>
            <a:ext cx="50993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2800" b="1" dirty="0">
                <a:solidFill>
                  <a:srgbClr val="3D1F6D"/>
                </a:solidFill>
                <a:latin typeface="Georgia" pitchFamily="34" charset="0"/>
              </a:rPr>
              <a:t>Integracion multisensorial</a:t>
            </a:r>
          </a:p>
        </p:txBody>
      </p:sp>
      <p:sp>
        <p:nvSpPr>
          <p:cNvPr id="6" name="card6"/>
          <p:cNvSpPr/>
          <p:nvPr/>
        </p:nvSpPr>
        <p:spPr>
          <a:xfrm>
            <a:off x="4254928" y="1340273"/>
            <a:ext cx="4200000" cy="1033994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txBody>
          <a:bodyPr wrap="square" lIns="152400" tIns="152400" rIns="152400" rtlCol="0" anchor="t"/>
          <a:lstStyle/>
          <a:p>
            <a:pPr marL="0" indent="0">
              <a:buNone/>
            </a:pPr>
            <a:r>
              <a:rPr lang="es-ES" sz="1200" b="1" dirty="0">
                <a:solidFill>
                  <a:srgbClr val="E87070"/>
                </a:solidFill>
                <a:latin typeface="Georgia" pitchFamily="34" charset="0"/>
              </a:rPr>
              <a:t>El efecto ventrilocuo</a:t>
            </a:r>
          </a:p>
          <a:p>
            <a:pPr marL="0" indent="0">
              <a:buNone/>
            </a:pPr>
            <a:endParaRPr lang="es-ES" sz="1000" dirty="0"/>
          </a:p>
          <a:p>
            <a:pPr marL="0" indent="0">
              <a:buNone/>
            </a:pPr>
            <a:r>
              <a:rPr lang="es-ES" sz="1000" dirty="0">
                <a:solidFill>
                  <a:srgbClr val="5A5A6A"/>
                </a:solidFill>
                <a:latin typeface="Calibri" pitchFamily="34" charset="0"/>
              </a:rPr>
              <a:t>La vision captura la localizacion del sonido. El cerebro fusiona las dos señales porque estima que provienen de la misma fuente.</a:t>
            </a:r>
          </a:p>
        </p:txBody>
      </p:sp>
      <p:sp>
        <p:nvSpPr>
          <p:cNvPr id="7" name="card7"/>
          <p:cNvSpPr/>
          <p:nvPr/>
        </p:nvSpPr>
        <p:spPr>
          <a:xfrm>
            <a:off x="4254928" y="2726785"/>
            <a:ext cx="4200000" cy="1064138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txBody>
          <a:bodyPr wrap="square" lIns="152400" tIns="152400" rIns="152400" rtlCol="0" anchor="t"/>
          <a:lstStyle/>
          <a:p>
            <a:pPr marL="0" indent="0">
              <a:buNone/>
            </a:pPr>
            <a:r>
              <a:rPr lang="es-ES" sz="1200" b="1" dirty="0">
                <a:solidFill>
                  <a:srgbClr val="6B3FA0"/>
                </a:solidFill>
                <a:latin typeface="Georgia" pitchFamily="34" charset="0"/>
              </a:rPr>
              <a:t>Inferencia causal</a:t>
            </a:r>
          </a:p>
          <a:p>
            <a:pPr marL="0" indent="0">
              <a:buNone/>
            </a:pPr>
            <a:endParaRPr lang="es-ES" sz="1000" dirty="0"/>
          </a:p>
          <a:p>
            <a:pPr marL="0" indent="0">
              <a:buNone/>
            </a:pPr>
            <a:r>
              <a:rPr lang="es-ES" sz="1000" dirty="0">
                <a:solidFill>
                  <a:srgbClr val="5A5A6A"/>
                </a:solidFill>
                <a:latin typeface="Calibri" pitchFamily="34" charset="0"/>
              </a:rPr>
              <a:t>Cuando la disparidad espaciotemporal es grande, el cerebro separa las fuentes: vision y sonido se perciben como independientes.</a:t>
            </a:r>
          </a:p>
        </p:txBody>
      </p:sp>
      <p:sp>
        <p:nvSpPr>
          <p:cNvPr id="8" name="bottom"/>
          <p:cNvSpPr/>
          <p:nvPr/>
        </p:nvSpPr>
        <p:spPr>
          <a:xfrm>
            <a:off x="457200" y="4550000"/>
            <a:ext cx="8229600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1200" i="1" dirty="0">
                <a:solidFill>
                  <a:srgbClr val="6B3FA0"/>
                </a:solidFill>
                <a:latin typeface="Calibri" pitchFamily="34" charset="0"/>
              </a:rPr>
              <a:t>Su cerebro hace inferencia bayesiana en tiempo real</a:t>
            </a:r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94885"/>
            <a:ext cx="3146908" cy="3958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972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Inferencia bayesian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" name="title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2800" b="1" dirty="0">
                <a:solidFill>
                  <a:srgbClr val="3D1F6D"/>
                </a:solidFill>
                <a:latin typeface="Georgia" pitchFamily="34" charset="0"/>
              </a:rPr>
              <a:t>La percepcion como inferencia bayesiana</a:t>
            </a:r>
          </a:p>
        </p:txBody>
      </p:sp>
      <p:sp>
        <p:nvSpPr>
          <p:cNvPr id="4" name="eq0"/>
          <p:cNvSpPr/>
          <p:nvPr/>
        </p:nvSpPr>
        <p:spPr>
          <a:xfrm>
            <a:off x="656737" y="1130486"/>
            <a:ext cx="2200926" cy="1639028"/>
          </a:xfrm>
          <a:prstGeom prst="rect">
            <a:avLst/>
          </a:prstGeom>
          <a:solidFill>
            <a:srgbClr val="EDE5F7"/>
          </a:solidFill>
          <a:ln>
            <a:noFill/>
          </a:ln>
        </p:spPr>
        <p:txBody>
          <a:bodyPr wrap="square" lIns="152400" rIns="152400" rtlCol="0" anchor="ctr"/>
          <a:lstStyle/>
          <a:p>
            <a:pPr marL="0" indent="0" algn="ctr">
              <a:buNone/>
            </a:pPr>
            <a:r>
              <a:rPr lang="es-ES" sz="3600" b="1" dirty="0">
                <a:solidFill>
                  <a:srgbClr val="3D1F6D"/>
                </a:solidFill>
                <a:latin typeface="Calibri" pitchFamily="34" charset="0"/>
              </a:rPr>
              <a:t>P(y|x)</a:t>
            </a:r>
          </a:p>
          <a:p>
            <a:pPr marL="0" indent="0" algn="ctr">
              <a:buNone/>
            </a:pPr>
            <a:r>
              <a:rPr lang="es-ES" sz="1100" b="1" dirty="0">
                <a:solidFill>
                  <a:srgbClr val="3D1F6D"/>
                </a:solidFill>
                <a:latin typeface="Calibri" pitchFamily="34" charset="0"/>
              </a:rPr>
              <a:t>Posterior</a:t>
            </a:r>
          </a:p>
          <a:p>
            <a:pPr marL="0" indent="0" algn="ctr">
              <a:buNone/>
            </a:pPr>
            <a:r>
              <a:rPr lang="es-ES" sz="1000" i="1" dirty="0">
                <a:solidFill>
                  <a:srgbClr val="5A5A6A"/>
                </a:solidFill>
                <a:latin typeface="Calibri" pitchFamily="34" charset="0"/>
              </a:rPr>
              <a:t>¿Que hay ahi?</a:t>
            </a:r>
          </a:p>
        </p:txBody>
      </p:sp>
      <p:sp>
        <p:nvSpPr>
          <p:cNvPr id="6" name="eq1"/>
          <p:cNvSpPr/>
          <p:nvPr/>
        </p:nvSpPr>
        <p:spPr>
          <a:xfrm>
            <a:off x="3471537" y="1130486"/>
            <a:ext cx="2200926" cy="1639028"/>
          </a:xfrm>
          <a:prstGeom prst="rect">
            <a:avLst/>
          </a:prstGeom>
          <a:solidFill>
            <a:srgbClr val="FFE5F0"/>
          </a:solidFill>
          <a:ln>
            <a:noFill/>
          </a:ln>
        </p:spPr>
        <p:txBody>
          <a:bodyPr wrap="square" lIns="152400" rIns="152400" rtlCol="0" anchor="ctr"/>
          <a:lstStyle/>
          <a:p>
            <a:pPr marL="0" indent="0" algn="ctr">
              <a:buNone/>
            </a:pPr>
            <a:r>
              <a:rPr lang="es-ES" sz="3600" b="1" dirty="0">
                <a:solidFill>
                  <a:srgbClr val="C0004A"/>
                </a:solidFill>
                <a:latin typeface="Calibri" pitchFamily="34" charset="0"/>
              </a:rPr>
              <a:t>P(x|y)</a:t>
            </a:r>
          </a:p>
          <a:p>
            <a:pPr marL="0" indent="0" algn="ctr">
              <a:buNone/>
            </a:pPr>
            <a:r>
              <a:rPr lang="es-ES" sz="1100" b="1" dirty="0">
                <a:solidFill>
                  <a:srgbClr val="C0004A"/>
                </a:solidFill>
                <a:latin typeface="Calibri" pitchFamily="34" charset="0"/>
              </a:rPr>
              <a:t>Verosimilitud</a:t>
            </a:r>
          </a:p>
          <a:p>
            <a:pPr marL="0" indent="0" algn="ctr">
              <a:buNone/>
            </a:pPr>
            <a:r>
              <a:rPr lang="es-ES" sz="1000" i="1" dirty="0">
                <a:solidFill>
                  <a:srgbClr val="5A5A6A"/>
                </a:solidFill>
                <a:latin typeface="Calibri" pitchFamily="34" charset="0"/>
              </a:rPr>
              <a:t>¿Que veo?</a:t>
            </a:r>
          </a:p>
        </p:txBody>
      </p:sp>
      <p:sp>
        <p:nvSpPr>
          <p:cNvPr id="8" name="eq2"/>
          <p:cNvSpPr/>
          <p:nvPr/>
        </p:nvSpPr>
        <p:spPr>
          <a:xfrm>
            <a:off x="6286537" y="1130486"/>
            <a:ext cx="2200926" cy="1639028"/>
          </a:xfrm>
          <a:prstGeom prst="rect">
            <a:avLst/>
          </a:prstGeom>
          <a:solidFill>
            <a:srgbClr val="F5EAFC"/>
          </a:solidFill>
          <a:ln>
            <a:noFill/>
          </a:ln>
        </p:spPr>
        <p:txBody>
          <a:bodyPr wrap="square" lIns="152400" rIns="152400" rtlCol="0" anchor="ctr"/>
          <a:lstStyle/>
          <a:p>
            <a:pPr marL="0" indent="0" algn="ctr">
              <a:buNone/>
            </a:pPr>
            <a:r>
              <a:rPr lang="es-ES" sz="3600" b="1" dirty="0">
                <a:solidFill>
                  <a:srgbClr val="8A2BE2"/>
                </a:solidFill>
                <a:latin typeface="Calibri" pitchFamily="34" charset="0"/>
              </a:rPr>
              <a:t>P(y)</a:t>
            </a:r>
          </a:p>
          <a:p>
            <a:pPr marL="0" indent="0" algn="ctr">
              <a:buNone/>
            </a:pPr>
            <a:r>
              <a:rPr lang="es-ES" sz="1100" b="1" dirty="0">
                <a:solidFill>
                  <a:srgbClr val="8A2BE2"/>
                </a:solidFill>
                <a:latin typeface="Calibri" pitchFamily="34" charset="0"/>
              </a:rPr>
              <a:t>Prior</a:t>
            </a:r>
          </a:p>
          <a:p>
            <a:pPr marL="0" indent="0" algn="ctr">
              <a:buNone/>
            </a:pPr>
            <a:r>
              <a:rPr lang="es-ES" sz="1000" i="1" dirty="0">
                <a:solidFill>
                  <a:srgbClr val="5A5A6A"/>
                </a:solidFill>
                <a:latin typeface="Calibri" pitchFamily="34" charset="0"/>
              </a:rPr>
              <a:t>¿Que esperaba?</a:t>
            </a:r>
          </a:p>
        </p:txBody>
      </p:sp>
      <p:sp>
        <p:nvSpPr>
          <p:cNvPr id="10" name="op1"/>
          <p:cNvSpPr/>
          <p:nvPr/>
        </p:nvSpPr>
        <p:spPr>
          <a:xfrm>
            <a:off x="3072000" y="1500000"/>
            <a:ext cx="200000" cy="9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2800" b="1" dirty="0">
                <a:solidFill>
                  <a:srgbClr val="3D1F6D"/>
                </a:solidFill>
                <a:latin typeface="Calibri" pitchFamily="34" charset="0"/>
              </a:rPr>
              <a:t>∝</a:t>
            </a:r>
          </a:p>
        </p:txBody>
      </p:sp>
      <p:sp>
        <p:nvSpPr>
          <p:cNvPr id="11" name="op2"/>
          <p:cNvSpPr/>
          <p:nvPr/>
        </p:nvSpPr>
        <p:spPr>
          <a:xfrm>
            <a:off x="5887000" y="1500000"/>
            <a:ext cx="200000" cy="9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2800" b="1" dirty="0">
                <a:solidFill>
                  <a:srgbClr val="3D1F6D"/>
                </a:solidFill>
                <a:latin typeface="Calibri" pitchFamily="34" charset="0"/>
              </a:rPr>
              <a:t>×</a:t>
            </a:r>
          </a:p>
        </p:txBody>
      </p:sp>
      <p:sp>
        <p:nvSpPr>
          <p:cNvPr id="12" name="card12"/>
          <p:cNvSpPr/>
          <p:nvPr/>
        </p:nvSpPr>
        <p:spPr>
          <a:xfrm>
            <a:off x="457200" y="3250000"/>
            <a:ext cx="4000000" cy="1450000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txBody>
          <a:bodyPr wrap="square" lIns="152400" tIns="152400" rIns="152400" rtlCol="0" anchor="t"/>
          <a:lstStyle/>
          <a:p>
            <a:pPr marL="0" indent="0">
              <a:buNone/>
            </a:pPr>
            <a:r>
              <a:rPr lang="es-ES" sz="1200" b="1" dirty="0">
                <a:solidFill>
                  <a:srgbClr val="6B3FA0"/>
                </a:solidFill>
                <a:latin typeface="Georgia" pitchFamily="34" charset="0"/>
              </a:rPr>
              <a:t>La percepcion es inferencia</a:t>
            </a:r>
          </a:p>
          <a:p>
            <a:pPr marL="0" indent="0">
              <a:buNone/>
            </a:pPr>
            <a:endParaRPr lang="es-ES" sz="1000" dirty="0"/>
          </a:p>
          <a:p>
            <a:pPr marL="0" indent="0">
              <a:buNone/>
            </a:pPr>
            <a:r>
              <a:rPr lang="es-ES" sz="1000" dirty="0">
                <a:solidFill>
                  <a:srgbClr val="5A5A6A"/>
                </a:solidFill>
                <a:latin typeface="Calibri" pitchFamily="34" charset="0"/>
              </a:rPr>
              <a:t>El cerebro no observa el mundo directamente. Construye la mejor estimacion posible combinando lo que espera (prior) con lo que sensa (verosimilitud).</a:t>
            </a:r>
          </a:p>
        </p:txBody>
      </p:sp>
      <p:sp>
        <p:nvSpPr>
          <p:cNvPr id="13" name="card13"/>
          <p:cNvSpPr/>
          <p:nvPr/>
        </p:nvSpPr>
        <p:spPr>
          <a:xfrm>
            <a:off x="4700000" y="3250000"/>
            <a:ext cx="4000000" cy="1450000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txBody>
          <a:bodyPr wrap="square" lIns="152400" tIns="152400" rIns="152400" rtlCol="0" anchor="t"/>
          <a:lstStyle/>
          <a:p>
            <a:pPr marL="0" indent="0">
              <a:buNone/>
            </a:pPr>
            <a:r>
              <a:rPr lang="es-ES" sz="1200" b="1" dirty="0">
                <a:solidFill>
                  <a:srgbClr val="6B3FA0"/>
                </a:solidFill>
                <a:latin typeface="Georgia" pitchFamily="34" charset="0"/>
              </a:rPr>
              <a:t>La incertidumbre importa</a:t>
            </a:r>
          </a:p>
          <a:p>
            <a:pPr marL="0" indent="0">
              <a:buNone/>
            </a:pPr>
            <a:endParaRPr lang="es-ES" sz="1000" dirty="0"/>
          </a:p>
          <a:p>
            <a:pPr marL="0" indent="0">
              <a:buNone/>
            </a:pPr>
            <a:r>
              <a:rPr lang="es-ES" sz="1000" dirty="0">
                <a:solidFill>
                  <a:srgbClr val="5A5A6A"/>
                </a:solidFill>
                <a:latin typeface="Calibri" pitchFamily="34" charset="0"/>
              </a:rPr>
              <a:t>En situaciones ambiguas, la distribucion posterior es ancha. En situaciones claras, es estrecha. La variabilidad neuronal refleja esta incertidumbre.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Hipotesis muestre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" name="title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2800" b="1" dirty="0">
                <a:solidFill>
                  <a:srgbClr val="3D1F6D"/>
                </a:solidFill>
                <a:latin typeface="Georgia" pitchFamily="34" charset="0"/>
              </a:rPr>
              <a:t>Hipótesis del muestreo neuronal</a:t>
            </a:r>
          </a:p>
        </p:txBody>
      </p:sp>
      <p:sp>
        <p:nvSpPr>
          <p:cNvPr id="4" name="concept"/>
          <p:cNvSpPr/>
          <p:nvPr/>
        </p:nvSpPr>
        <p:spPr>
          <a:xfrm>
            <a:off x="457200" y="800000"/>
            <a:ext cx="8229600" cy="1120898"/>
          </a:xfrm>
          <a:prstGeom prst="rect">
            <a:avLst/>
          </a:prstGeom>
          <a:solidFill>
            <a:srgbClr val="3D1F6D"/>
          </a:solidFill>
          <a:ln>
            <a:noFill/>
          </a:ln>
        </p:spPr>
        <p:txBody>
          <a:bodyPr wrap="square" lIns="228600" tIns="152400" rIns="228600" rtlCol="0" anchor="ctr"/>
          <a:lstStyle/>
          <a:p>
            <a:pPr marL="0" indent="0" algn="ctr">
              <a:buNone/>
            </a:pPr>
            <a:r>
              <a:rPr lang="es-ES" sz="2400" b="1" dirty="0">
                <a:solidFill>
                  <a:srgbClr val="FFFFFF"/>
                </a:solidFill>
                <a:latin typeface="Georgia" pitchFamily="34" charset="0"/>
              </a:rPr>
              <a:t>La actividad neuronal fluctuante genera muestras de la </a:t>
            </a:r>
            <a:r>
              <a:rPr lang="es-ES" sz="2400" b="1" dirty="0" smtClean="0">
                <a:solidFill>
                  <a:srgbClr val="FFFFFF"/>
                </a:solidFill>
                <a:latin typeface="Georgia" pitchFamily="34" charset="0"/>
              </a:rPr>
              <a:t>distribución posterior</a:t>
            </a:r>
          </a:p>
        </p:txBody>
      </p:sp>
      <p:sp>
        <p:nvSpPr>
          <p:cNvPr id="5" name="card5"/>
          <p:cNvSpPr/>
          <p:nvPr/>
        </p:nvSpPr>
        <p:spPr>
          <a:xfrm>
            <a:off x="457200" y="2193542"/>
            <a:ext cx="2700000" cy="1400000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txBody>
          <a:bodyPr wrap="square" lIns="152400" tIns="152400" rIns="152400" rtlCol="0" anchor="t"/>
          <a:lstStyle/>
          <a:p>
            <a:pPr marL="0" indent="0">
              <a:buNone/>
            </a:pPr>
            <a:r>
              <a:rPr lang="es-ES" sz="1200" b="1" dirty="0">
                <a:solidFill>
                  <a:srgbClr val="6B3FA0"/>
                </a:solidFill>
                <a:latin typeface="Georgia" pitchFamily="34" charset="0"/>
              </a:rPr>
              <a:t>La variabilidad NO es ruido</a:t>
            </a:r>
          </a:p>
          <a:p>
            <a:pPr marL="0" indent="0">
              <a:buNone/>
            </a:pPr>
            <a:endParaRPr lang="es-ES" sz="1000" dirty="0"/>
          </a:p>
          <a:p>
            <a:pPr marL="0" indent="0">
              <a:buNone/>
            </a:pPr>
            <a:r>
              <a:rPr lang="es-ES" sz="1000" dirty="0">
                <a:solidFill>
                  <a:srgbClr val="5A5A6A"/>
                </a:solidFill>
                <a:latin typeface="Calibri" pitchFamily="34" charset="0"/>
              </a:rPr>
              <a:t>Codifica incertidumbre. Cuando el estimulo es ambiguo, la variabilidad aumenta. Cuando es claro, disminuye.</a:t>
            </a:r>
          </a:p>
        </p:txBody>
      </p:sp>
      <p:sp>
        <p:nvSpPr>
          <p:cNvPr id="6" name="card6"/>
          <p:cNvSpPr/>
          <p:nvPr/>
        </p:nvSpPr>
        <p:spPr>
          <a:xfrm>
            <a:off x="3250000" y="2193542"/>
            <a:ext cx="2700000" cy="1400000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txBody>
          <a:bodyPr wrap="square" lIns="152400" tIns="152400" rIns="152400" rtlCol="0" anchor="t"/>
          <a:lstStyle/>
          <a:p>
            <a:pPr marL="0" indent="0">
              <a:buNone/>
            </a:pPr>
            <a:r>
              <a:rPr lang="es-ES" sz="1200" b="1" dirty="0">
                <a:solidFill>
                  <a:srgbClr val="6B3FA0"/>
                </a:solidFill>
                <a:latin typeface="Georgia" pitchFamily="34" charset="0"/>
              </a:rPr>
              <a:t>Implicacion computacional</a:t>
            </a:r>
          </a:p>
          <a:p>
            <a:pPr marL="0" indent="0">
              <a:buNone/>
            </a:pPr>
            <a:endParaRPr lang="es-ES" sz="1000" dirty="0"/>
          </a:p>
          <a:p>
            <a:pPr marL="0" indent="0">
              <a:buNone/>
            </a:pPr>
            <a:r>
              <a:rPr lang="es-ES" sz="1000" dirty="0">
                <a:solidFill>
                  <a:srgbClr val="5A5A6A"/>
                </a:solidFill>
                <a:latin typeface="Calibri" pitchFamily="34" charset="0"/>
              </a:rPr>
              <a:t>No necesitamos calcular explicitamente la posterior. La red neuronal la implementa implicitamente a traves de su dinamica.</a:t>
            </a:r>
          </a:p>
        </p:txBody>
      </p:sp>
      <p:sp>
        <p:nvSpPr>
          <p:cNvPr id="7" name="card7"/>
          <p:cNvSpPr/>
          <p:nvPr/>
        </p:nvSpPr>
        <p:spPr>
          <a:xfrm>
            <a:off x="6043000" y="2193542"/>
            <a:ext cx="2600000" cy="1400000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txBody>
          <a:bodyPr wrap="square" lIns="152400" tIns="152400" rIns="152400" rtlCol="0" anchor="t"/>
          <a:lstStyle/>
          <a:p>
            <a:pPr marL="0" indent="0">
              <a:buNone/>
            </a:pPr>
            <a:r>
              <a:rPr lang="es-ES" sz="1200" b="1" dirty="0">
                <a:solidFill>
                  <a:srgbClr val="6B3FA0"/>
                </a:solidFill>
                <a:latin typeface="Georgia" pitchFamily="34" charset="0"/>
              </a:rPr>
              <a:t>Lo que buscamos reproducir</a:t>
            </a:r>
          </a:p>
          <a:p>
            <a:pPr marL="0" indent="0">
              <a:buNone/>
            </a:pPr>
            <a:endParaRPr lang="es-ES" sz="1000" dirty="0"/>
          </a:p>
          <a:p>
            <a:pPr marL="0" indent="0">
              <a:buNone/>
            </a:pPr>
            <a:r>
              <a:rPr lang="es-ES" sz="1000" dirty="0">
                <a:solidFill>
                  <a:srgbClr val="5A5A6A"/>
                </a:solidFill>
                <a:latin typeface="Calibri" pitchFamily="34" charset="0"/>
              </a:rPr>
              <a:t>El modelo de Echeveste muestra que una red E-I biologicamente realista puede realizar este muestreo de manera emergente.</a:t>
            </a:r>
          </a:p>
        </p:txBody>
      </p:sp>
      <p:sp>
        <p:nvSpPr>
          <p:cNvPr id="8" name="eqbox"/>
          <p:cNvSpPr/>
          <p:nvPr/>
        </p:nvSpPr>
        <p:spPr>
          <a:xfrm>
            <a:off x="457200" y="3866186"/>
            <a:ext cx="8229600" cy="800000"/>
          </a:xfrm>
          <a:prstGeom prst="rect">
            <a:avLst/>
          </a:prstGeom>
          <a:solidFill>
            <a:srgbClr val="EDE5F7"/>
          </a:solidFill>
          <a:ln>
            <a:noFill/>
          </a:ln>
        </p:spPr>
        <p:txBody>
          <a:bodyPr wrap="square" lIns="228600" rtlCol="0" anchor="ctr"/>
          <a:lstStyle/>
          <a:p>
            <a:pPr marL="0" indent="0" algn="ctr">
              <a:buNone/>
            </a:pPr>
            <a:r>
              <a:rPr lang="es-ES" sz="1400" b="1" dirty="0">
                <a:solidFill>
                  <a:srgbClr val="3D1F6D"/>
                </a:solidFill>
                <a:latin typeface="Calibri" pitchFamily="34" charset="0"/>
              </a:rPr>
              <a:t>Promedio temporal de la actividad  ≈  Media de la distribucion posterior bayesiana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D1F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Redes neuronales: conexiones y arquitecturas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260604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48640" y="29260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3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Feed-forward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329184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Transformaciones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jerárquicas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46120" y="868680"/>
            <a:ext cx="260604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sp>
      <p:pic>
        <p:nvPicPr>
          <p:cNvPr id="9" name="Image 1" descr="/home/claude/img_user/top-dow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29000" y="1005840"/>
            <a:ext cx="2240280" cy="1828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29000" y="29260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smtClean="0">
                <a:solidFill>
                  <a:srgbClr val="6B3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Feed-back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429000" y="329184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Modulación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126480" y="868680"/>
            <a:ext cx="260604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sp>
      <p:pic>
        <p:nvPicPr>
          <p:cNvPr id="13" name="Image 2" descr="/home/claude/img_user/red-recurrent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09360" y="1005840"/>
            <a:ext cx="2240280" cy="18288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309360" y="29260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smtClean="0">
                <a:solidFill>
                  <a:srgbClr val="6B3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Recurrente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309360" y="329184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Dinámicas complejas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Oscilaciones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08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conexiones recurrentes superan en número a feedforward y feedback — clave para dinámicas corticales</a:t>
            </a:r>
            <a:endParaRPr lang="en-US" sz="1000" dirty="0"/>
          </a:p>
        </p:txBody>
      </p:sp>
      <p:pic>
        <p:nvPicPr>
          <p:cNvPr id="5122" name="Picture 2" descr="Red neuronal prealimentada - Wikipedia, la enciclopedia libr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" y="1028700"/>
            <a:ext cx="224028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D1F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8046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modelos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08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Cuppini — Echeveste — La brecha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D1F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Modelo de Cuppini: integración audiovisual</a:t>
            </a:r>
            <a:endParaRPr lang="en-US" sz="2600" dirty="0"/>
          </a:p>
        </p:txBody>
      </p:sp>
      <p:pic>
        <p:nvPicPr>
          <p:cNvPr id="4" name="Image 0" descr="/home/claude/img_user/cuppini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914400"/>
            <a:ext cx="4818888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03520" y="914400"/>
            <a:ext cx="347472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7C4DBA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303520" y="914400"/>
            <a:ext cx="54864" cy="1463040"/>
          </a:xfrm>
          <a:prstGeom prst="rect">
            <a:avLst/>
          </a:prstGeom>
          <a:solidFill>
            <a:srgbClr val="7030A0"/>
          </a:solidFill>
          <a:ln/>
        </p:spPr>
      </p:sp>
      <p:sp>
        <p:nvSpPr>
          <p:cNvPr id="7" name="Text 4"/>
          <p:cNvSpPr/>
          <p:nvPr/>
        </p:nvSpPr>
        <p:spPr>
          <a:xfrm>
            <a:off x="5458968" y="108331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030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Fortalezas</a:t>
            </a:r>
            <a:endParaRPr lang="en-US" sz="1400" dirty="0">
              <a:solidFill>
                <a:srgbClr val="7030A0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5486400" y="123444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Efecto ventrílocuo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Inferencia causal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biológica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303520" y="2560320"/>
            <a:ext cx="347472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7C4DBA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303520" y="2560320"/>
            <a:ext cx="54864" cy="1463040"/>
          </a:xfrm>
          <a:prstGeom prst="rect">
            <a:avLst/>
          </a:prstGeom>
          <a:solidFill>
            <a:srgbClr val="7030A0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0" y="273431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030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Limitaciones</a:t>
            </a:r>
            <a:endParaRPr lang="en-US" sz="1400" dirty="0">
              <a:solidFill>
                <a:srgbClr val="7030A0"/>
              </a:solidFill>
            </a:endParaRPr>
          </a:p>
        </p:txBody>
      </p:sp>
      <p:sp>
        <p:nvSpPr>
          <p:cNvPr id="12" name="Text 9"/>
          <p:cNvSpPr/>
          <p:nvPr/>
        </p:nvSpPr>
        <p:spPr>
          <a:xfrm>
            <a:off x="5486400" y="288036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Determinista (sin ruido)</a:t>
            </a:r>
          </a:p>
          <a:p>
            <a:r>
              <a:rPr lang="en-US" sz="1100" dirty="0" err="1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Abstracción</a:t>
            </a:r>
            <a:r>
              <a:rPr lang="en-US" sz="11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"Spiking" </a:t>
            </a:r>
          </a:p>
          <a:p>
            <a:r>
              <a:rPr lang="en-US" sz="11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</a:t>
            </a:r>
            <a:r>
              <a:rPr lang="en-US" sz="1100" dirty="0" err="1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variabilidad</a:t>
            </a:r>
            <a:r>
              <a:rPr lang="en-US" sz="11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trial-a-trial</a:t>
            </a:r>
          </a:p>
        </p:txBody>
      </p:sp>
      <p:sp>
        <p:nvSpPr>
          <p:cNvPr id="13" name="Text 10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08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"Como una foto del cerebro en blanco y negro: falta la dinámica"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480994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Neuronas EI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" name="title"/>
          <p:cNvSpPr/>
          <p:nvPr/>
        </p:nvSpPr>
        <p:spPr>
          <a:xfrm>
            <a:off x="457200" y="52739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2800" b="1" dirty="0">
                <a:solidFill>
                  <a:srgbClr val="3D1F6D"/>
                </a:solidFill>
                <a:latin typeface="Georgia" pitchFamily="34" charset="0"/>
              </a:rPr>
              <a:t>Neuronas excitatorias e inhibitorias</a:t>
            </a:r>
          </a:p>
        </p:txBody>
      </p:sp>
      <p:sp>
        <p:nvSpPr>
          <p:cNvPr id="4" name="dale"/>
          <p:cNvSpPr/>
          <p:nvPr/>
        </p:nvSpPr>
        <p:spPr>
          <a:xfrm>
            <a:off x="457200" y="1154478"/>
            <a:ext cx="8229600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1200" i="1" dirty="0">
                <a:solidFill>
                  <a:srgbClr val="6B3FA0"/>
                </a:solidFill>
                <a:latin typeface="Calibri" pitchFamily="34" charset="0"/>
              </a:rPr>
              <a:t>Principio de Dale: cada neurona es o excitatoria o inhibitoria</a:t>
            </a:r>
          </a:p>
        </p:txBody>
      </p:sp>
      <p:sp>
        <p:nvSpPr>
          <p:cNvPr id="5" name="excit"/>
          <p:cNvSpPr/>
          <p:nvPr/>
        </p:nvSpPr>
        <p:spPr>
          <a:xfrm>
            <a:off x="457200" y="1964420"/>
            <a:ext cx="3900000" cy="1778699"/>
          </a:xfrm>
          <a:prstGeom prst="rect">
            <a:avLst/>
          </a:prstGeom>
          <a:solidFill>
            <a:srgbClr val="EDE5F7"/>
          </a:solidFill>
          <a:ln>
            <a:noFill/>
          </a:ln>
        </p:spPr>
        <p:txBody>
          <a:bodyPr wrap="square" lIns="228600" tIns="228600" rIns="228600" rtlCol="0" anchor="t"/>
          <a:lstStyle/>
          <a:p>
            <a:pPr marL="0" indent="0">
              <a:buNone/>
            </a:pPr>
            <a:r>
              <a:rPr lang="es-ES" sz="2000" b="1" dirty="0">
                <a:solidFill>
                  <a:srgbClr val="3D1F6D"/>
                </a:solidFill>
                <a:latin typeface="Georgia" pitchFamily="34" charset="0"/>
              </a:rPr>
              <a:t>Excitatoria (E)</a:t>
            </a:r>
          </a:p>
          <a:p>
            <a:pPr marL="0" indent="0">
              <a:buNone/>
            </a:pPr>
            <a:endParaRPr lang="es-ES" sz="1100" dirty="0"/>
          </a:p>
          <a:p>
            <a:pPr marL="0" indent="0">
              <a:buNone/>
            </a:pPr>
            <a:r>
              <a:rPr lang="es-ES" sz="1100" dirty="0">
                <a:solidFill>
                  <a:srgbClr val="5A5A6A"/>
                </a:solidFill>
                <a:latin typeface="Calibri" pitchFamily="34" charset="0"/>
              </a:rPr>
              <a:t>Despolariza la membrana postsinaptica</a:t>
            </a:r>
          </a:p>
          <a:p>
            <a:pPr marL="0" indent="0">
              <a:buNone/>
            </a:pPr>
            <a:r>
              <a:rPr lang="es-ES" sz="1100" dirty="0">
                <a:solidFill>
                  <a:srgbClr val="5A5A6A"/>
                </a:solidFill>
                <a:latin typeface="Calibri" pitchFamily="34" charset="0"/>
              </a:rPr>
              <a:t>Aumenta probabilidad de disparo</a:t>
            </a:r>
          </a:p>
          <a:p>
            <a:pPr marL="0" indent="0">
              <a:buNone/>
            </a:pPr>
            <a:endParaRPr lang="es-ES" sz="1100" dirty="0"/>
          </a:p>
          <a:p>
            <a:pPr marL="0" indent="0">
              <a:buNone/>
            </a:pPr>
            <a:r>
              <a:rPr lang="es-ES" sz="1100" b="1" dirty="0">
                <a:solidFill>
                  <a:srgbClr val="3D1F6D"/>
                </a:solidFill>
                <a:latin typeface="Calibri" pitchFamily="34" charset="0"/>
              </a:rPr>
              <a:t>En el modelo: 50 neuronas </a:t>
            </a:r>
            <a:r>
              <a:rPr lang="es-ES" sz="1100" b="1" dirty="0" smtClean="0">
                <a:solidFill>
                  <a:srgbClr val="3D1F6D"/>
                </a:solidFill>
                <a:latin typeface="Calibri" pitchFamily="34" charset="0"/>
              </a:rPr>
              <a:t>E</a:t>
            </a:r>
            <a:endParaRPr lang="es-ES" sz="1100" b="1" dirty="0">
              <a:solidFill>
                <a:srgbClr val="3D1F6D"/>
              </a:solidFill>
              <a:latin typeface="Calibri" pitchFamily="34" charset="0"/>
            </a:endParaRPr>
          </a:p>
        </p:txBody>
      </p:sp>
      <p:sp>
        <p:nvSpPr>
          <p:cNvPr id="6" name="inhib"/>
          <p:cNvSpPr/>
          <p:nvPr/>
        </p:nvSpPr>
        <p:spPr>
          <a:xfrm>
            <a:off x="4686800" y="1964420"/>
            <a:ext cx="4000000" cy="1778699"/>
          </a:xfrm>
          <a:prstGeom prst="rect">
            <a:avLst/>
          </a:prstGeom>
          <a:solidFill>
            <a:srgbClr val="FFF0F5"/>
          </a:solidFill>
          <a:ln>
            <a:noFill/>
          </a:ln>
        </p:spPr>
        <p:txBody>
          <a:bodyPr wrap="square" lIns="228600" tIns="228600" rIns="228600" rtlCol="0" anchor="t"/>
          <a:lstStyle/>
          <a:p>
            <a:pPr marL="0" indent="0">
              <a:buNone/>
            </a:pPr>
            <a:r>
              <a:rPr lang="es-ES" sz="2000" b="1" dirty="0">
                <a:solidFill>
                  <a:srgbClr val="C0004A"/>
                </a:solidFill>
                <a:latin typeface="Georgia" pitchFamily="34" charset="0"/>
              </a:rPr>
              <a:t>Inhibitoria (I)</a:t>
            </a:r>
          </a:p>
          <a:p>
            <a:pPr marL="0" indent="0">
              <a:buNone/>
            </a:pPr>
            <a:endParaRPr lang="es-ES" sz="1100" dirty="0"/>
          </a:p>
          <a:p>
            <a:pPr marL="0" indent="0">
              <a:buNone/>
            </a:pPr>
            <a:r>
              <a:rPr lang="es-ES" sz="1100" dirty="0">
                <a:solidFill>
                  <a:srgbClr val="5A5A6A"/>
                </a:solidFill>
                <a:latin typeface="Calibri" pitchFamily="34" charset="0"/>
              </a:rPr>
              <a:t>Hiperpolariza la membrana postsinaptica</a:t>
            </a:r>
          </a:p>
          <a:p>
            <a:pPr marL="0" indent="0">
              <a:buNone/>
            </a:pPr>
            <a:r>
              <a:rPr lang="es-ES" sz="1100" dirty="0">
                <a:solidFill>
                  <a:srgbClr val="5A5A6A"/>
                </a:solidFill>
                <a:latin typeface="Calibri" pitchFamily="34" charset="0"/>
              </a:rPr>
              <a:t>Reduce probabilidad de disparo</a:t>
            </a:r>
          </a:p>
          <a:p>
            <a:pPr marL="0" indent="0">
              <a:buNone/>
            </a:pPr>
            <a:endParaRPr lang="es-ES" sz="1100" dirty="0"/>
          </a:p>
          <a:p>
            <a:pPr marL="0" indent="0">
              <a:buNone/>
            </a:pPr>
            <a:r>
              <a:rPr lang="es-ES" sz="1100" b="1" dirty="0">
                <a:solidFill>
                  <a:srgbClr val="C0004A"/>
                </a:solidFill>
                <a:latin typeface="Calibri" pitchFamily="34" charset="0"/>
              </a:rPr>
              <a:t>En el modelo: 50 </a:t>
            </a:r>
            <a:r>
              <a:rPr lang="es-ES" sz="1100" b="1" dirty="0" smtClean="0">
                <a:solidFill>
                  <a:srgbClr val="C0004A"/>
                </a:solidFill>
                <a:latin typeface="Calibri" pitchFamily="34" charset="0"/>
              </a:rPr>
              <a:t>neuronas I</a:t>
            </a:r>
            <a:endParaRPr lang="es-ES" sz="1100" b="1" dirty="0">
              <a:solidFill>
                <a:srgbClr val="C0004A"/>
              </a:solidFill>
              <a:latin typeface="Calibri" pitchFamily="34" charset="0"/>
            </a:endParaRPr>
          </a:p>
        </p:txBody>
      </p:sp>
      <p:sp>
        <p:nvSpPr>
          <p:cNvPr id="7" name="balance"/>
          <p:cNvSpPr/>
          <p:nvPr/>
        </p:nvSpPr>
        <p:spPr>
          <a:xfrm>
            <a:off x="457200" y="4300000"/>
            <a:ext cx="82296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1200" i="1" dirty="0">
                <a:solidFill>
                  <a:srgbClr val="6B3FA0"/>
                </a:solidFill>
                <a:latin typeface="Calibri" pitchFamily="34" charset="0"/>
              </a:rPr>
              <a:t>El balance E-I es clave para las oscilaciones gamma y la estabilidad de la red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cheveste arquitectur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" name="title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2800" b="1" dirty="0">
                <a:solidFill>
                  <a:srgbClr val="3D1F6D"/>
                </a:solidFill>
                <a:latin typeface="Georgia" pitchFamily="34" charset="0"/>
              </a:rPr>
              <a:t>Modelo de Echeveste: arquitectura SSN</a:t>
            </a:r>
          </a:p>
        </p:txBody>
      </p:sp>
      <p:pic>
        <p:nvPicPr>
          <p:cNvPr id="4" name="arquieche" descr="arquitectura echeveste"/>
          <p:cNvPicPr>
            <a:picLocks noChangeAspect="1"/>
          </p:cNvPicPr>
          <p:nvPr/>
        </p:nvPicPr>
        <p:blipFill rotWithShape="1">
          <a:blip r:embed="rId3"/>
          <a:srcRect t="7061" b="5257"/>
          <a:stretch/>
        </p:blipFill>
        <p:spPr>
          <a:xfrm>
            <a:off x="274320" y="1222462"/>
            <a:ext cx="4200000" cy="3473405"/>
          </a:xfrm>
          <a:prstGeom prst="rect">
            <a:avLst/>
          </a:prstGeom>
        </p:spPr>
      </p:pic>
      <p:pic>
        <p:nvPicPr>
          <p:cNvPr id="5" name="ring" descr="topologia anillo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74320" y="4800000"/>
            <a:ext cx="4200000" cy="0"/>
          </a:xfrm>
          <a:prstGeom prst="rect">
            <a:avLst/>
          </a:prstGeom>
        </p:spPr>
      </p:pic>
      <p:sp>
        <p:nvSpPr>
          <p:cNvPr id="6" name="specs"/>
          <p:cNvSpPr/>
          <p:nvPr/>
        </p:nvSpPr>
        <p:spPr>
          <a:xfrm>
            <a:off x="4844725" y="1118330"/>
            <a:ext cx="3680904" cy="3681670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txBody>
          <a:bodyPr wrap="square" lIns="228600" tIns="228600" rIns="228600" rtlCol="0" anchor="t"/>
          <a:lstStyle/>
          <a:p>
            <a:pPr marL="0" indent="0">
              <a:buNone/>
            </a:pPr>
            <a:r>
              <a:rPr lang="es-ES" sz="1400" b="1" dirty="0">
                <a:solidFill>
                  <a:srgbClr val="3D1F6D"/>
                </a:solidFill>
                <a:latin typeface="Georgia" pitchFamily="34" charset="0"/>
              </a:rPr>
              <a:t>Arquitectura SSN</a:t>
            </a:r>
          </a:p>
          <a:p>
            <a:pPr marL="0" indent="0">
              <a:buNone/>
            </a:pPr>
            <a:endParaRPr lang="es-ES" sz="1100" dirty="0"/>
          </a:p>
          <a:p>
            <a:r>
              <a:rPr lang="es-ES" sz="1100" dirty="0">
                <a:solidFill>
                  <a:srgbClr val="5A5A6A"/>
                </a:solidFill>
                <a:latin typeface="Calibri" pitchFamily="34" charset="0"/>
              </a:rPr>
              <a:t>100 neuronas (50E + 50I) </a:t>
            </a:r>
          </a:p>
          <a:p>
            <a:r>
              <a:rPr lang="es-ES" sz="1100" dirty="0" smtClean="0">
                <a:solidFill>
                  <a:srgbClr val="5A5A6A"/>
                </a:solidFill>
                <a:latin typeface="Calibri" pitchFamily="34" charset="0"/>
              </a:rPr>
              <a:t>organizadas </a:t>
            </a:r>
            <a:r>
              <a:rPr lang="es-ES" sz="1100" dirty="0">
                <a:solidFill>
                  <a:srgbClr val="5A5A6A"/>
                </a:solidFill>
                <a:latin typeface="Calibri" pitchFamily="34" charset="0"/>
              </a:rPr>
              <a:t>en una hipercolumna de </a:t>
            </a:r>
            <a:r>
              <a:rPr lang="es-ES" sz="1100" dirty="0" smtClean="0">
                <a:solidFill>
                  <a:srgbClr val="5A5A6A"/>
                </a:solidFill>
                <a:latin typeface="Calibri" pitchFamily="34" charset="0"/>
              </a:rPr>
              <a:t>V1</a:t>
            </a:r>
          </a:p>
          <a:p>
            <a:endParaRPr lang="es-ES" sz="1100" dirty="0" smtClean="0">
              <a:solidFill>
                <a:srgbClr val="5A5A6A"/>
              </a:solidFill>
              <a:latin typeface="Calibri" pitchFamily="34" charset="0"/>
            </a:endParaRPr>
          </a:p>
          <a:p>
            <a:r>
              <a:rPr lang="es-ES" sz="1100" dirty="0">
                <a:solidFill>
                  <a:srgbClr val="5A5A6A"/>
                </a:solidFill>
                <a:latin typeface="Calibri" pitchFamily="34" charset="0"/>
              </a:rPr>
              <a:t>Orientaciones preferidas distribuidas uniformemente en [-90°, 90</a:t>
            </a:r>
            <a:r>
              <a:rPr lang="es-ES" sz="1100" dirty="0" smtClean="0">
                <a:solidFill>
                  <a:srgbClr val="5A5A6A"/>
                </a:solidFill>
                <a:latin typeface="Calibri" pitchFamily="34" charset="0"/>
              </a:rPr>
              <a:t>°]</a:t>
            </a:r>
          </a:p>
          <a:p>
            <a:endParaRPr lang="es-ES" sz="1100" dirty="0">
              <a:solidFill>
                <a:srgbClr val="5A5A6A"/>
              </a:solidFill>
              <a:latin typeface="Calibri" pitchFamily="34" charset="0"/>
            </a:endParaRPr>
          </a:p>
          <a:p>
            <a:r>
              <a:rPr lang="es-ES" sz="1100" dirty="0">
                <a:solidFill>
                  <a:srgbClr val="5A5A6A"/>
                </a:solidFill>
                <a:latin typeface="Calibri" pitchFamily="34" charset="0"/>
              </a:rPr>
              <a:t>Conectividad gaussiana circular: 8 parámetros reemplazan 10.000 </a:t>
            </a:r>
            <a:r>
              <a:rPr lang="es-ES" sz="1100" dirty="0" smtClean="0">
                <a:solidFill>
                  <a:srgbClr val="5A5A6A"/>
                </a:solidFill>
                <a:latin typeface="Calibri" pitchFamily="34" charset="0"/>
              </a:rPr>
              <a:t>pesos</a:t>
            </a:r>
          </a:p>
          <a:p>
            <a:endParaRPr lang="es-ES" sz="1100" dirty="0">
              <a:solidFill>
                <a:srgbClr val="5A5A6A"/>
              </a:solidFill>
              <a:latin typeface="Calibri" pitchFamily="34" charset="0"/>
            </a:endParaRPr>
          </a:p>
          <a:p>
            <a:r>
              <a:rPr lang="es-ES" sz="1100" dirty="0">
                <a:solidFill>
                  <a:srgbClr val="5A5A6A"/>
                </a:solidFill>
                <a:latin typeface="Calibri" pitchFamily="34" charset="0"/>
              </a:rPr>
              <a:t>Ruido correlacionado temporalmente </a:t>
            </a:r>
            <a:endParaRPr lang="es-ES" sz="1100" dirty="0" smtClean="0">
              <a:solidFill>
                <a:srgbClr val="5A5A6A"/>
              </a:solidFill>
              <a:latin typeface="Calibri" pitchFamily="34" charset="0"/>
            </a:endParaRPr>
          </a:p>
          <a:p>
            <a:r>
              <a:rPr lang="es-ES" sz="1100" dirty="0" smtClean="0">
                <a:solidFill>
                  <a:srgbClr val="5A5A6A"/>
                </a:solidFill>
                <a:latin typeface="Calibri" pitchFamily="34" charset="0"/>
              </a:rPr>
              <a:t>→  variabilidad </a:t>
            </a:r>
            <a:r>
              <a:rPr lang="es-ES" sz="1100" dirty="0">
                <a:solidFill>
                  <a:srgbClr val="5A5A6A"/>
                </a:solidFill>
                <a:latin typeface="Calibri" pitchFamily="34" charset="0"/>
              </a:rPr>
              <a:t>= muestras de la </a:t>
            </a:r>
            <a:r>
              <a:rPr lang="es-ES" sz="1100" dirty="0" smtClean="0">
                <a:solidFill>
                  <a:srgbClr val="5A5A6A"/>
                </a:solidFill>
                <a:latin typeface="Calibri" pitchFamily="34" charset="0"/>
              </a:rPr>
              <a:t>posterior</a:t>
            </a:r>
          </a:p>
          <a:p>
            <a:endParaRPr lang="es-ES" sz="1100" dirty="0">
              <a:solidFill>
                <a:srgbClr val="5A5A6A"/>
              </a:solidFill>
              <a:latin typeface="Calibri" pitchFamily="34" charset="0"/>
            </a:endParaRPr>
          </a:p>
          <a:p>
            <a:r>
              <a:rPr lang="es-ES" sz="1100" dirty="0" smtClean="0">
                <a:solidFill>
                  <a:srgbClr val="5A5A6A"/>
                </a:solidFill>
                <a:latin typeface="Calibri" pitchFamily="34" charset="0"/>
              </a:rPr>
              <a:t>Función de transferencia supralineal</a:t>
            </a:r>
          </a:p>
          <a:p>
            <a:r>
              <a:rPr lang="es-ES" sz="1100" dirty="0">
                <a:solidFill>
                  <a:srgbClr val="5A5A6A"/>
                </a:solidFill>
                <a:latin typeface="Calibri" pitchFamily="34" charset="0"/>
              </a:rPr>
              <a:t>→ estabilización por inhibición recurrente</a:t>
            </a:r>
          </a:p>
          <a:p>
            <a:pPr marL="0" indent="0">
              <a:buNone/>
            </a:pPr>
            <a:endParaRPr lang="es-ES" sz="1100" dirty="0"/>
          </a:p>
          <a:p>
            <a:pPr marL="0" indent="0">
              <a:buNone/>
            </a:pPr>
            <a:r>
              <a:rPr lang="es-ES" sz="1100" b="1" dirty="0">
                <a:solidFill>
                  <a:srgbClr val="6B3FA0"/>
                </a:solidFill>
                <a:latin typeface="Calibri" pitchFamily="34" charset="0"/>
              </a:rPr>
              <a:t>Stochastic Stabilized Supralinear Network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piedades emergent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" name="title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2800" b="1" dirty="0">
                <a:solidFill>
                  <a:srgbClr val="3D1F6D"/>
                </a:solidFill>
                <a:latin typeface="Georgia" pitchFamily="34" charset="0"/>
              </a:rPr>
              <a:t>Propiedades emergentes del modelo</a:t>
            </a:r>
          </a:p>
        </p:txBody>
      </p:sp>
      <p:sp>
        <p:nvSpPr>
          <p:cNvPr id="4" name="intro"/>
          <p:cNvSpPr/>
          <p:nvPr/>
        </p:nvSpPr>
        <p:spPr>
          <a:xfrm>
            <a:off x="457200" y="750000"/>
            <a:ext cx="8229600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1200" i="1" dirty="0">
                <a:solidFill>
                  <a:srgbClr val="C084D8"/>
                </a:solidFill>
                <a:latin typeface="Calibri" pitchFamily="34" charset="0"/>
              </a:rPr>
              <a:t>No impuestas — emergen de la dinamica de la red</a:t>
            </a:r>
          </a:p>
        </p:txBody>
      </p:sp>
      <p:sp>
        <p:nvSpPr>
          <p:cNvPr id="5" name="card5"/>
          <p:cNvSpPr/>
          <p:nvPr/>
        </p:nvSpPr>
        <p:spPr>
          <a:xfrm>
            <a:off x="457200" y="1280000"/>
            <a:ext cx="4000000" cy="1600000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txBody>
          <a:bodyPr wrap="square" lIns="152400" tIns="152400" rIns="152400" rtlCol="0" anchor="ctr"/>
          <a:lstStyle/>
          <a:p>
            <a:r>
              <a:rPr lang="es-ES" sz="1200" b="1" dirty="0" smtClean="0">
                <a:solidFill>
                  <a:srgbClr val="6B3FA0"/>
                </a:solidFill>
                <a:latin typeface="Georgia" pitchFamily="34" charset="0"/>
              </a:rPr>
              <a:t>Convergencia </a:t>
            </a:r>
            <a:r>
              <a:rPr lang="es-ES" sz="1200" b="1" dirty="0" err="1">
                <a:solidFill>
                  <a:srgbClr val="6B3FA0"/>
                </a:solidFill>
                <a:latin typeface="Georgia" pitchFamily="34" charset="0"/>
              </a:rPr>
              <a:t>rapida</a:t>
            </a:r>
            <a:r>
              <a:rPr lang="es-ES" sz="1200" b="1" dirty="0">
                <a:solidFill>
                  <a:srgbClr val="6B3FA0"/>
                </a:solidFill>
                <a:latin typeface="Georgia" pitchFamily="34" charset="0"/>
              </a:rPr>
              <a:t> al muestreo</a:t>
            </a:r>
          </a:p>
          <a:p>
            <a:endParaRPr lang="es-ES" sz="1000" dirty="0"/>
          </a:p>
          <a:p>
            <a:r>
              <a:rPr lang="es-ES" sz="1000" dirty="0">
                <a:solidFill>
                  <a:srgbClr val="5A5A6A"/>
                </a:solidFill>
                <a:latin typeface="Calibri" pitchFamily="34" charset="0"/>
              </a:rPr>
              <a:t>En pocos ciclos, la </a:t>
            </a:r>
            <a:r>
              <a:rPr lang="es-ES" sz="1000" dirty="0" err="1">
                <a:solidFill>
                  <a:srgbClr val="5A5A6A"/>
                </a:solidFill>
                <a:latin typeface="Calibri" pitchFamily="34" charset="0"/>
              </a:rPr>
              <a:t>distribucion</a:t>
            </a:r>
            <a:r>
              <a:rPr lang="es-ES" sz="1000" dirty="0">
                <a:solidFill>
                  <a:srgbClr val="5A5A6A"/>
                </a:solidFill>
                <a:latin typeface="Calibri" pitchFamily="34" charset="0"/>
              </a:rPr>
              <a:t> de actividad converge a la posterior bayesiana del modelo generativo</a:t>
            </a:r>
            <a:r>
              <a:rPr lang="es-ES" sz="1000" dirty="0" smtClean="0">
                <a:solidFill>
                  <a:srgbClr val="5A5A6A"/>
                </a:solidFill>
                <a:latin typeface="Calibri" pitchFamily="34" charset="0"/>
              </a:rPr>
              <a:t>.</a:t>
            </a:r>
            <a:endParaRPr lang="es-ES" sz="1000" dirty="0">
              <a:solidFill>
                <a:srgbClr val="5A5A6A"/>
              </a:solidFill>
              <a:latin typeface="Calibri" pitchFamily="34" charset="0"/>
            </a:endParaRPr>
          </a:p>
        </p:txBody>
      </p:sp>
      <p:sp>
        <p:nvSpPr>
          <p:cNvPr id="6" name="card6"/>
          <p:cNvSpPr/>
          <p:nvPr/>
        </p:nvSpPr>
        <p:spPr>
          <a:xfrm>
            <a:off x="4700000" y="1275000"/>
            <a:ext cx="4000000" cy="1600000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txBody>
          <a:bodyPr wrap="square" lIns="152400" tIns="152400" rIns="152400" rtlCol="0" anchor="ctr"/>
          <a:lstStyle/>
          <a:p>
            <a:pPr marL="0" indent="0">
              <a:buNone/>
            </a:pPr>
            <a:r>
              <a:rPr lang="es-ES" sz="1200" b="1" dirty="0">
                <a:solidFill>
                  <a:srgbClr val="6B3FA0"/>
                </a:solidFill>
                <a:latin typeface="Georgia" pitchFamily="34" charset="0"/>
              </a:rPr>
              <a:t>Transitorios inhibitorios</a:t>
            </a:r>
          </a:p>
          <a:p>
            <a:pPr marL="0" indent="0">
              <a:buNone/>
            </a:pPr>
            <a:endParaRPr lang="es-ES" sz="1000" dirty="0"/>
          </a:p>
          <a:p>
            <a:r>
              <a:rPr lang="es-ES" sz="1000" dirty="0">
                <a:solidFill>
                  <a:srgbClr val="5A5A6A"/>
                </a:solidFill>
                <a:latin typeface="Calibri" pitchFamily="34" charset="0"/>
              </a:rPr>
              <a:t>Picos al inicio de la respuesta que aceleran la convergencia hacia la región de alta probabilidad (reducen el burn-in), evitando difusión lenta desde el estado </a:t>
            </a:r>
            <a:r>
              <a:rPr lang="es-ES" sz="1000" dirty="0" smtClean="0">
                <a:solidFill>
                  <a:srgbClr val="5A5A6A"/>
                </a:solidFill>
                <a:latin typeface="Calibri" pitchFamily="34" charset="0"/>
              </a:rPr>
              <a:t>inicial</a:t>
            </a:r>
            <a:r>
              <a:rPr lang="es-ES" sz="1000" dirty="0">
                <a:solidFill>
                  <a:srgbClr val="5A5A6A"/>
                </a:solidFill>
                <a:latin typeface="Calibri" pitchFamily="34" charset="0"/>
              </a:rPr>
              <a:t>,</a:t>
            </a:r>
            <a:r>
              <a:rPr lang="es-ES" sz="1000" dirty="0" smtClean="0">
                <a:solidFill>
                  <a:srgbClr val="5A5A6A"/>
                </a:solidFill>
                <a:latin typeface="Calibri" pitchFamily="34" charset="0"/>
              </a:rPr>
              <a:t> </a:t>
            </a:r>
            <a:r>
              <a:rPr lang="es-ES" sz="1000" dirty="0">
                <a:solidFill>
                  <a:srgbClr val="5A5A6A"/>
                </a:solidFill>
                <a:latin typeface="Calibri" pitchFamily="34" charset="0"/>
              </a:rPr>
              <a:t>consistentes con registros electrofisiologicos.</a:t>
            </a:r>
          </a:p>
        </p:txBody>
      </p:sp>
      <p:sp>
        <p:nvSpPr>
          <p:cNvPr id="7" name="card7"/>
          <p:cNvSpPr/>
          <p:nvPr/>
        </p:nvSpPr>
        <p:spPr>
          <a:xfrm>
            <a:off x="457200" y="3000000"/>
            <a:ext cx="4000000" cy="1600000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txBody>
          <a:bodyPr wrap="square" lIns="152400" tIns="152400" rIns="152400" rtlCol="0" anchor="ctr"/>
          <a:lstStyle/>
          <a:p>
            <a:pPr marL="0" indent="0">
              <a:buNone/>
            </a:pPr>
            <a:r>
              <a:rPr lang="es-ES" sz="1200" b="1" dirty="0">
                <a:solidFill>
                  <a:srgbClr val="6B3FA0"/>
                </a:solidFill>
                <a:latin typeface="Georgia" pitchFamily="34" charset="0"/>
              </a:rPr>
              <a:t>Variabilidad modulada por contraste</a:t>
            </a:r>
          </a:p>
          <a:p>
            <a:pPr marL="0" indent="0">
              <a:buNone/>
            </a:pPr>
            <a:endParaRPr lang="es-ES" sz="1000" dirty="0"/>
          </a:p>
          <a:p>
            <a:pPr marL="0" indent="0">
              <a:buNone/>
            </a:pPr>
            <a:r>
              <a:rPr lang="es-ES" sz="1000" dirty="0">
                <a:solidFill>
                  <a:srgbClr val="5A5A6A"/>
                </a:solidFill>
                <a:latin typeface="Calibri" pitchFamily="34" charset="0"/>
              </a:rPr>
              <a:t>Alta variabilidad con estimulos debiles, baja con estimulos fuertes. Codifica incertidumbre de manera automatica.</a:t>
            </a:r>
          </a:p>
        </p:txBody>
      </p:sp>
      <p:sp>
        <p:nvSpPr>
          <p:cNvPr id="8" name="card8"/>
          <p:cNvSpPr/>
          <p:nvPr/>
        </p:nvSpPr>
        <p:spPr>
          <a:xfrm>
            <a:off x="4700000" y="3000000"/>
            <a:ext cx="4000000" cy="1600000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txBody>
          <a:bodyPr wrap="square" lIns="152400" tIns="152400" rIns="152400" rtlCol="0" anchor="ctr"/>
          <a:lstStyle/>
          <a:p>
            <a:r>
              <a:rPr lang="es-ES" sz="1200" b="1" dirty="0" smtClean="0">
                <a:solidFill>
                  <a:srgbClr val="6B3FA0"/>
                </a:solidFill>
                <a:latin typeface="Georgia" pitchFamily="34" charset="0"/>
              </a:rPr>
              <a:t>Oscilaciones </a:t>
            </a:r>
            <a:r>
              <a:rPr lang="es-ES" sz="1200" b="1" dirty="0">
                <a:solidFill>
                  <a:srgbClr val="6B3FA0"/>
                </a:solidFill>
                <a:latin typeface="Georgia" pitchFamily="34" charset="0"/>
              </a:rPr>
              <a:t>gamma (30-80 Hz)</a:t>
            </a:r>
          </a:p>
          <a:p>
            <a:endParaRPr lang="es-ES" sz="1000" dirty="0"/>
          </a:p>
          <a:p>
            <a:r>
              <a:rPr lang="es-ES" sz="1000" dirty="0">
                <a:solidFill>
                  <a:srgbClr val="5A5A6A"/>
                </a:solidFill>
                <a:latin typeface="Calibri" pitchFamily="34" charset="0"/>
              </a:rPr>
              <a:t>La red oscila </a:t>
            </a:r>
            <a:r>
              <a:rPr lang="es-ES" sz="1000" dirty="0" err="1">
                <a:solidFill>
                  <a:srgbClr val="5A5A6A"/>
                </a:solidFill>
                <a:latin typeface="Calibri" pitchFamily="34" charset="0"/>
              </a:rPr>
              <a:t>espontaneamente</a:t>
            </a:r>
            <a:r>
              <a:rPr lang="es-ES" sz="1000" dirty="0">
                <a:solidFill>
                  <a:srgbClr val="5A5A6A"/>
                </a:solidFill>
                <a:latin typeface="Calibri" pitchFamily="34" charset="0"/>
              </a:rPr>
              <a:t> en la banda gamma sin que se programe </a:t>
            </a:r>
            <a:r>
              <a:rPr lang="es-ES" sz="1000" dirty="0" err="1">
                <a:solidFill>
                  <a:srgbClr val="5A5A6A"/>
                </a:solidFill>
                <a:latin typeface="Calibri" pitchFamily="34" charset="0"/>
              </a:rPr>
              <a:t>explicitamente</a:t>
            </a:r>
            <a:r>
              <a:rPr lang="es-ES" sz="1000" dirty="0">
                <a:solidFill>
                  <a:srgbClr val="5A5A6A"/>
                </a:solidFill>
                <a:latin typeface="Calibri" pitchFamily="34" charset="0"/>
              </a:rPr>
              <a:t>. Surge del balance E-I.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odelo GS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" name="title"/>
          <p:cNvSpPr/>
          <p:nvPr/>
        </p:nvSpPr>
        <p:spPr>
          <a:xfrm>
            <a:off x="457200" y="304864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2800" b="1" dirty="0">
                <a:solidFill>
                  <a:srgbClr val="3D1F6D"/>
                </a:solidFill>
                <a:latin typeface="Georgia" pitchFamily="34" charset="0"/>
              </a:rPr>
              <a:t>El modelo generativo GSM</a:t>
            </a:r>
          </a:p>
        </p:txBody>
      </p:sp>
      <p:pic>
        <p:nvPicPr>
          <p:cNvPr id="4" name="gabor" descr="gabor ban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170958"/>
            <a:ext cx="4200000" cy="2279042"/>
          </a:xfrm>
          <a:prstGeom prst="rect">
            <a:avLst/>
          </a:prstGeom>
        </p:spPr>
      </p:pic>
      <p:sp>
        <p:nvSpPr>
          <p:cNvPr id="5" name="equation"/>
          <p:cNvSpPr/>
          <p:nvPr/>
        </p:nvSpPr>
        <p:spPr>
          <a:xfrm>
            <a:off x="4686800" y="1154464"/>
            <a:ext cx="4000000" cy="1445936"/>
          </a:xfrm>
          <a:prstGeom prst="rect">
            <a:avLst/>
          </a:prstGeom>
          <a:solidFill>
            <a:srgbClr val="EDE5F7"/>
          </a:solidFill>
          <a:ln>
            <a:noFill/>
          </a:ln>
        </p:spPr>
        <p:txBody>
          <a:bodyPr wrap="square" lIns="228600" rIns="228600" rtlCol="0" anchor="ctr"/>
          <a:lstStyle/>
          <a:p>
            <a:pPr marL="0" indent="0" algn="ctr">
              <a:buNone/>
            </a:pPr>
            <a:r>
              <a:rPr lang="es-ES" sz="2400" b="1" dirty="0" smtClean="0">
                <a:solidFill>
                  <a:srgbClr val="3D1F6D"/>
                </a:solidFill>
                <a:latin typeface="Calibri" pitchFamily="34" charset="0"/>
              </a:rPr>
              <a:t>x </a:t>
            </a:r>
            <a:r>
              <a:rPr lang="es-ES" sz="2400" b="1" dirty="0">
                <a:solidFill>
                  <a:srgbClr val="3D1F6D"/>
                </a:solidFill>
                <a:latin typeface="Calibri" pitchFamily="34" charset="0"/>
              </a:rPr>
              <a:t>= z · A·y + </a:t>
            </a:r>
            <a:r>
              <a:rPr lang="es-ES" sz="2400" b="1" dirty="0" smtClean="0">
                <a:solidFill>
                  <a:srgbClr val="3D1F6D"/>
                </a:solidFill>
                <a:latin typeface="Calibri" pitchFamily="34" charset="0"/>
              </a:rPr>
              <a:t>ε</a:t>
            </a:r>
            <a:endParaRPr lang="es-ES" sz="2400" b="1" dirty="0">
              <a:solidFill>
                <a:srgbClr val="3D1F6D"/>
              </a:solidFill>
              <a:latin typeface="Calibri" pitchFamily="34" charset="0"/>
            </a:endParaRPr>
          </a:p>
          <a:p>
            <a:pPr algn="ctr"/>
            <a:endParaRPr lang="es-ES" sz="900" dirty="0" smtClean="0">
              <a:solidFill>
                <a:srgbClr val="5A5A6A"/>
              </a:solidFill>
              <a:latin typeface="Calibri" pitchFamily="34" charset="0"/>
            </a:endParaRPr>
          </a:p>
          <a:p>
            <a:pPr algn="ctr"/>
            <a:r>
              <a:rPr lang="es-ES" sz="900" dirty="0" smtClean="0">
                <a:solidFill>
                  <a:srgbClr val="5A5A6A"/>
                </a:solidFill>
                <a:latin typeface="Calibri" pitchFamily="34" charset="0"/>
              </a:rPr>
              <a:t>x</a:t>
            </a:r>
            <a:r>
              <a:rPr lang="es-ES" sz="900" dirty="0">
                <a:solidFill>
                  <a:srgbClr val="5A5A6A"/>
                </a:solidFill>
                <a:latin typeface="Calibri" pitchFamily="34" charset="0"/>
              </a:rPr>
              <a:t>: parche de imagen  |  z: contraste local  </a:t>
            </a:r>
          </a:p>
          <a:p>
            <a:pPr algn="ctr"/>
            <a:r>
              <a:rPr lang="es-ES" sz="900" dirty="0">
                <a:solidFill>
                  <a:srgbClr val="5A5A6A"/>
                </a:solidFill>
                <a:latin typeface="Calibri" pitchFamily="34" charset="0"/>
              </a:rPr>
              <a:t>A: filtros de </a:t>
            </a:r>
            <a:r>
              <a:rPr lang="es-ES" sz="900" dirty="0" err="1">
                <a:solidFill>
                  <a:srgbClr val="5A5A6A"/>
                </a:solidFill>
                <a:latin typeface="Calibri" pitchFamily="34" charset="0"/>
              </a:rPr>
              <a:t>Gabor</a:t>
            </a:r>
            <a:r>
              <a:rPr lang="es-ES" sz="900" dirty="0">
                <a:solidFill>
                  <a:srgbClr val="5A5A6A"/>
                </a:solidFill>
                <a:latin typeface="Calibri" pitchFamily="34" charset="0"/>
              </a:rPr>
              <a:t> (campos proyectivos)  </a:t>
            </a:r>
          </a:p>
          <a:p>
            <a:pPr algn="ctr"/>
            <a:r>
              <a:rPr lang="es-ES" sz="900" dirty="0">
                <a:solidFill>
                  <a:srgbClr val="5A5A6A"/>
                </a:solidFill>
                <a:latin typeface="Calibri" pitchFamily="34" charset="0"/>
              </a:rPr>
              <a:t>y: variables latentes (coeficientes)  </a:t>
            </a:r>
            <a:r>
              <a:rPr lang="es-ES" sz="900" dirty="0" smtClean="0">
                <a:solidFill>
                  <a:srgbClr val="5A5A6A"/>
                </a:solidFill>
                <a:latin typeface="Calibri" pitchFamily="34" charset="0"/>
              </a:rPr>
              <a:t>| </a:t>
            </a:r>
            <a:r>
              <a:rPr lang="el-GR" sz="900" dirty="0">
                <a:solidFill>
                  <a:srgbClr val="5A5A6A"/>
                </a:solidFill>
                <a:latin typeface="Calibri" pitchFamily="34" charset="0"/>
              </a:rPr>
              <a:t>ε</a:t>
            </a:r>
            <a:r>
              <a:rPr lang="es-ES" sz="900" dirty="0" smtClean="0">
                <a:solidFill>
                  <a:srgbClr val="5A5A6A"/>
                </a:solidFill>
                <a:latin typeface="Calibri" pitchFamily="34" charset="0"/>
              </a:rPr>
              <a:t>: </a:t>
            </a:r>
            <a:r>
              <a:rPr lang="es-ES" sz="900" dirty="0">
                <a:solidFill>
                  <a:srgbClr val="5A5A6A"/>
                </a:solidFill>
                <a:latin typeface="Calibri" pitchFamily="34" charset="0"/>
              </a:rPr>
              <a:t>ruido sensorial</a:t>
            </a:r>
            <a:endParaRPr lang="es-ES" sz="1100" dirty="0">
              <a:solidFill>
                <a:srgbClr val="5A5A6A"/>
              </a:solidFill>
              <a:latin typeface="Calibri" pitchFamily="34" charset="0"/>
            </a:endParaRPr>
          </a:p>
          <a:p>
            <a:pPr marL="0" indent="0" algn="ctr">
              <a:buNone/>
            </a:pPr>
            <a:endParaRPr lang="es-ES" sz="1100" dirty="0">
              <a:solidFill>
                <a:srgbClr val="5A5A6A"/>
              </a:solidFill>
              <a:latin typeface="Calibri" pitchFamily="34" charset="0"/>
            </a:endParaRPr>
          </a:p>
        </p:txBody>
      </p:sp>
      <p:sp>
        <p:nvSpPr>
          <p:cNvPr id="7" name="card7"/>
          <p:cNvSpPr/>
          <p:nvPr/>
        </p:nvSpPr>
        <p:spPr>
          <a:xfrm>
            <a:off x="274320" y="3700000"/>
            <a:ext cx="4200000" cy="1100000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txBody>
          <a:bodyPr wrap="square" lIns="152400" tIns="152400" rIns="152400" rtlCol="0" anchor="t"/>
          <a:lstStyle/>
          <a:p>
            <a:pPr marL="0" indent="0">
              <a:buNone/>
            </a:pPr>
            <a:r>
              <a:rPr lang="es-ES" sz="1200" b="1" dirty="0">
                <a:solidFill>
                  <a:srgbClr val="6B3FA0"/>
                </a:solidFill>
                <a:latin typeface="Georgia" pitchFamily="34" charset="0"/>
              </a:rPr>
              <a:t>Gaussian </a:t>
            </a:r>
            <a:r>
              <a:rPr lang="es-ES" sz="1200" b="1" dirty="0" err="1">
                <a:solidFill>
                  <a:srgbClr val="6B3FA0"/>
                </a:solidFill>
                <a:latin typeface="Georgia" pitchFamily="34" charset="0"/>
              </a:rPr>
              <a:t>Scale</a:t>
            </a:r>
            <a:r>
              <a:rPr lang="es-ES" sz="1200" b="1" dirty="0">
                <a:solidFill>
                  <a:srgbClr val="6B3FA0"/>
                </a:solidFill>
                <a:latin typeface="Georgia" pitchFamily="34" charset="0"/>
              </a:rPr>
              <a:t> </a:t>
            </a:r>
            <a:r>
              <a:rPr lang="es-ES" sz="1200" b="1" dirty="0" smtClean="0">
                <a:solidFill>
                  <a:srgbClr val="6B3FA0"/>
                </a:solidFill>
                <a:latin typeface="Georgia" pitchFamily="34" charset="0"/>
              </a:rPr>
              <a:t>Mixture</a:t>
            </a:r>
          </a:p>
          <a:p>
            <a:pPr marL="0" indent="0">
              <a:buNone/>
            </a:pPr>
            <a:endParaRPr lang="es-ES" sz="1000" dirty="0"/>
          </a:p>
          <a:p>
            <a:pPr marL="0" indent="0">
              <a:buNone/>
            </a:pPr>
            <a:r>
              <a:rPr lang="es-ES" sz="1000" dirty="0">
                <a:solidFill>
                  <a:srgbClr val="5A5A6A"/>
                </a:solidFill>
                <a:latin typeface="Calibri" pitchFamily="34" charset="0"/>
              </a:rPr>
              <a:t>Modelo estadistico de parches de imagen natural. Captura las correlaciones de segundo orden que existen en escenas naturales.</a:t>
            </a:r>
          </a:p>
        </p:txBody>
      </p:sp>
      <p:sp>
        <p:nvSpPr>
          <p:cNvPr id="8" name="card8"/>
          <p:cNvSpPr/>
          <p:nvPr/>
        </p:nvSpPr>
        <p:spPr>
          <a:xfrm>
            <a:off x="4700000" y="2855033"/>
            <a:ext cx="3986800" cy="1944967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txBody>
          <a:bodyPr wrap="square" lIns="152400" tIns="152400" rIns="152400" rtlCol="0" anchor="t"/>
          <a:lstStyle/>
          <a:p>
            <a:pPr marL="0" indent="0">
              <a:buNone/>
            </a:pPr>
            <a:r>
              <a:rPr lang="es-ES" sz="1200" b="1" dirty="0">
                <a:solidFill>
                  <a:srgbClr val="6B3FA0"/>
                </a:solidFill>
                <a:latin typeface="Georgia" pitchFamily="34" charset="0"/>
              </a:rPr>
              <a:t>Por que este modelo</a:t>
            </a:r>
          </a:p>
          <a:p>
            <a:pPr marL="0" indent="0">
              <a:buNone/>
            </a:pPr>
            <a:endParaRPr lang="es-ES" sz="1000" dirty="0"/>
          </a:p>
          <a:p>
            <a:r>
              <a:rPr lang="es-ES" sz="1000" dirty="0">
                <a:solidFill>
                  <a:srgbClr val="5A5A6A"/>
                </a:solidFill>
                <a:latin typeface="Calibri" pitchFamily="34" charset="0"/>
              </a:rPr>
              <a:t>El GSM define el problema de inferencia que la SSN debe </a:t>
            </a:r>
            <a:r>
              <a:rPr lang="es-ES" sz="1000" dirty="0" smtClean="0">
                <a:solidFill>
                  <a:srgbClr val="5A5A6A"/>
                </a:solidFill>
                <a:latin typeface="Calibri" pitchFamily="34" charset="0"/>
              </a:rPr>
              <a:t>resolver</a:t>
            </a:r>
          </a:p>
          <a:p>
            <a:endParaRPr lang="es-ES" sz="1000" dirty="0" smtClean="0">
              <a:solidFill>
                <a:srgbClr val="5A5A6A"/>
              </a:solidFill>
              <a:latin typeface="Calibri" pitchFamily="34" charset="0"/>
            </a:endParaRPr>
          </a:p>
          <a:p>
            <a:r>
              <a:rPr lang="es-ES" sz="1000" dirty="0" smtClean="0">
                <a:solidFill>
                  <a:srgbClr val="5A5A6A"/>
                </a:solidFill>
                <a:latin typeface="Calibri" pitchFamily="34" charset="0"/>
              </a:rPr>
              <a:t>La </a:t>
            </a:r>
            <a:r>
              <a:rPr lang="es-ES" sz="1000" dirty="0">
                <a:solidFill>
                  <a:srgbClr val="5A5A6A"/>
                </a:solidFill>
                <a:latin typeface="Calibri" pitchFamily="34" charset="0"/>
              </a:rPr>
              <a:t>posterior P(</a:t>
            </a:r>
            <a:r>
              <a:rPr lang="es-ES" sz="1000" dirty="0" err="1">
                <a:solidFill>
                  <a:srgbClr val="5A5A6A"/>
                </a:solidFill>
                <a:latin typeface="Calibri" pitchFamily="34" charset="0"/>
              </a:rPr>
              <a:t>y|x</a:t>
            </a:r>
            <a:r>
              <a:rPr lang="es-ES" sz="1000" dirty="0">
                <a:solidFill>
                  <a:srgbClr val="5A5A6A"/>
                </a:solidFill>
                <a:latin typeface="Calibri" pitchFamily="34" charset="0"/>
              </a:rPr>
              <a:t>, z) es gaussiana con media y covarianza calculables </a:t>
            </a:r>
            <a:endParaRPr lang="es-ES" sz="1000" dirty="0" smtClean="0">
              <a:solidFill>
                <a:srgbClr val="5A5A6A"/>
              </a:solidFill>
              <a:latin typeface="Calibri" pitchFamily="34" charset="0"/>
            </a:endParaRPr>
          </a:p>
          <a:p>
            <a:r>
              <a:rPr lang="es-ES" sz="1000" dirty="0" smtClean="0">
                <a:solidFill>
                  <a:srgbClr val="5A5A6A"/>
                </a:solidFill>
                <a:latin typeface="Calibri" pitchFamily="34" charset="0"/>
              </a:rPr>
              <a:t>Exactamente</a:t>
            </a:r>
          </a:p>
          <a:p>
            <a:endParaRPr lang="es-ES" sz="1000" dirty="0">
              <a:solidFill>
                <a:srgbClr val="5A5A6A"/>
              </a:solidFill>
              <a:latin typeface="Calibri" pitchFamily="34" charset="0"/>
            </a:endParaRPr>
          </a:p>
          <a:p>
            <a:r>
              <a:rPr lang="es-ES" sz="1000" dirty="0" smtClean="0">
                <a:solidFill>
                  <a:srgbClr val="5A5A6A"/>
                </a:solidFill>
                <a:latin typeface="Calibri" pitchFamily="34" charset="0"/>
              </a:rPr>
              <a:t>Esto permite </a:t>
            </a:r>
            <a:r>
              <a:rPr lang="es-ES" sz="1000" dirty="0">
                <a:solidFill>
                  <a:srgbClr val="5A5A6A"/>
                </a:solidFill>
                <a:latin typeface="Calibri" pitchFamily="34" charset="0"/>
              </a:rPr>
              <a:t>entrenar la red comparando sus momentos contra el observador ideal bayesiano.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ntrenamiento GS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" name="title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2800" b="1" dirty="0">
                <a:solidFill>
                  <a:srgbClr val="3D1F6D"/>
                </a:solidFill>
                <a:latin typeface="Georgia" pitchFamily="34" charset="0"/>
              </a:rPr>
              <a:t>Entrenamiento del modelo</a:t>
            </a:r>
          </a:p>
        </p:txBody>
      </p:sp>
      <p:sp>
        <p:nvSpPr>
          <p:cNvPr id="4" name="phase1"/>
          <p:cNvSpPr/>
          <p:nvPr/>
        </p:nvSpPr>
        <p:spPr>
          <a:xfrm>
            <a:off x="457200" y="800000"/>
            <a:ext cx="3700000" cy="2200000"/>
          </a:xfrm>
          <a:prstGeom prst="rect">
            <a:avLst/>
          </a:prstGeom>
          <a:solidFill>
            <a:srgbClr val="EDE5F7"/>
          </a:solidFill>
          <a:ln>
            <a:noFill/>
          </a:ln>
        </p:spPr>
        <p:txBody>
          <a:bodyPr wrap="square" lIns="228600" tIns="228600" rIns="228600" rtlCol="0" anchor="t"/>
          <a:lstStyle/>
          <a:p>
            <a:pPr marL="0" indent="0">
              <a:buNone/>
            </a:pPr>
            <a:r>
              <a:rPr lang="es-ES" sz="1800" b="1" dirty="0">
                <a:solidFill>
                  <a:srgbClr val="3D1F6D"/>
                </a:solidFill>
                <a:latin typeface="Georgia" pitchFamily="34" charset="0"/>
              </a:rPr>
              <a:t>Fase 1: ADAM</a:t>
            </a:r>
          </a:p>
          <a:p>
            <a:pPr marL="0" indent="0">
              <a:buNone/>
            </a:pPr>
            <a:endParaRPr lang="es-ES" sz="1000" dirty="0"/>
          </a:p>
          <a:p>
            <a:pPr marL="0" indent="0">
              <a:buNone/>
            </a:pPr>
            <a:r>
              <a:rPr lang="es-ES" sz="1100" dirty="0">
                <a:solidFill>
                  <a:srgbClr val="5A5A6A"/>
                </a:solidFill>
                <a:latin typeface="Calibri" pitchFamily="34" charset="0"/>
              </a:rPr>
              <a:t>250 iteraciones</a:t>
            </a:r>
          </a:p>
          <a:p>
            <a:pPr marL="0" indent="0">
              <a:buNone/>
            </a:pPr>
            <a:r>
              <a:rPr lang="es-ES" sz="1100" dirty="0">
                <a:solidFill>
                  <a:srgbClr val="5A5A6A"/>
                </a:solidFill>
                <a:latin typeface="Calibri" pitchFamily="34" charset="0"/>
              </a:rPr>
              <a:t>Gradiente estocastico</a:t>
            </a:r>
          </a:p>
          <a:p>
            <a:pPr marL="0" indent="0">
              <a:buNone/>
            </a:pPr>
            <a:r>
              <a:rPr lang="es-ES" sz="1100" dirty="0">
                <a:solidFill>
                  <a:srgbClr val="5A5A6A"/>
                </a:solidFill>
                <a:latin typeface="Calibri" pitchFamily="34" charset="0"/>
              </a:rPr>
              <a:t>50 trials por estimulo</a:t>
            </a:r>
          </a:p>
          <a:p>
            <a:pPr marL="0" indent="0">
              <a:buNone/>
            </a:pPr>
            <a:r>
              <a:rPr lang="es-ES" sz="1100" dirty="0">
                <a:solidFill>
                  <a:srgbClr val="5A5A6A"/>
                </a:solidFill>
                <a:latin typeface="Calibri" pitchFamily="34" charset="0"/>
              </a:rPr>
              <a:t>Exploracion amplia del espacio</a:t>
            </a:r>
          </a:p>
        </p:txBody>
      </p:sp>
      <p:sp>
        <p:nvSpPr>
          <p:cNvPr id="5" name="arrow"/>
          <p:cNvSpPr/>
          <p:nvPr/>
        </p:nvSpPr>
        <p:spPr>
          <a:xfrm>
            <a:off x="4300000" y="1700000"/>
            <a:ext cx="400000" cy="400000"/>
          </a:xfrm>
          <a:prstGeom prst="rightArrow">
            <a:avLst/>
          </a:prstGeom>
          <a:solidFill>
            <a:srgbClr val="6B3FA0"/>
          </a:solidFill>
          <a:ln>
            <a:noFill/>
          </a:ln>
        </p:spPr>
      </p:sp>
      <p:sp>
        <p:nvSpPr>
          <p:cNvPr id="6" name="phase2"/>
          <p:cNvSpPr/>
          <p:nvPr/>
        </p:nvSpPr>
        <p:spPr>
          <a:xfrm>
            <a:off x="4900000" y="800000"/>
            <a:ext cx="3800000" cy="2200000"/>
          </a:xfrm>
          <a:prstGeom prst="rect">
            <a:avLst/>
          </a:prstGeom>
          <a:solidFill>
            <a:srgbClr val="3D1F6D"/>
          </a:solidFill>
          <a:ln>
            <a:noFill/>
          </a:ln>
        </p:spPr>
        <p:txBody>
          <a:bodyPr wrap="square" lIns="228600" tIns="228600" rIns="228600" rtlCol="0" anchor="t"/>
          <a:lstStyle/>
          <a:p>
            <a:pPr marL="0" indent="0">
              <a:buNone/>
            </a:pPr>
            <a:r>
              <a:rPr lang="es-ES" sz="1800" b="1" dirty="0">
                <a:solidFill>
                  <a:srgbClr val="FFFFFF"/>
                </a:solidFill>
                <a:latin typeface="Georgia" pitchFamily="34" charset="0"/>
              </a:rPr>
              <a:t>Fase 2: L-BFGS-B</a:t>
            </a:r>
          </a:p>
          <a:p>
            <a:pPr marL="0" indent="0">
              <a:buNone/>
            </a:pPr>
            <a:endParaRPr lang="es-ES" sz="1000" dirty="0"/>
          </a:p>
          <a:p>
            <a:pPr marL="0" indent="0">
              <a:buNone/>
            </a:pPr>
            <a:r>
              <a:rPr lang="es-ES" sz="1100" dirty="0">
                <a:solidFill>
                  <a:srgbClr val="C084D8"/>
                </a:solidFill>
                <a:latin typeface="Calibri" pitchFamily="34" charset="0"/>
              </a:rPr>
              <a:t>Gradiente deterministico</a:t>
            </a:r>
          </a:p>
          <a:p>
            <a:pPr marL="0" indent="0">
              <a:buNone/>
            </a:pPr>
            <a:r>
              <a:rPr lang="es-ES" sz="1100" dirty="0">
                <a:solidFill>
                  <a:srgbClr val="C084D8"/>
                </a:solidFill>
                <a:latin typeface="Calibri" pitchFamily="34" charset="0"/>
              </a:rPr>
              <a:t>Assumed </a:t>
            </a:r>
            <a:r>
              <a:rPr lang="es-ES" sz="1100" dirty="0" err="1">
                <a:solidFill>
                  <a:srgbClr val="C084D8"/>
                </a:solidFill>
                <a:latin typeface="Calibri" pitchFamily="34" charset="0"/>
              </a:rPr>
              <a:t>Density</a:t>
            </a:r>
            <a:r>
              <a:rPr lang="es-ES" sz="1100" dirty="0">
                <a:solidFill>
                  <a:srgbClr val="C084D8"/>
                </a:solidFill>
                <a:latin typeface="Calibri" pitchFamily="34" charset="0"/>
              </a:rPr>
              <a:t> </a:t>
            </a:r>
            <a:r>
              <a:rPr lang="es-ES" sz="1100" dirty="0" err="1" smtClean="0">
                <a:solidFill>
                  <a:srgbClr val="C084D8"/>
                </a:solidFill>
                <a:latin typeface="Calibri" pitchFamily="34" charset="0"/>
              </a:rPr>
              <a:t>Filtering</a:t>
            </a:r>
            <a:r>
              <a:rPr lang="es-ES" sz="1100" dirty="0" smtClean="0">
                <a:solidFill>
                  <a:srgbClr val="C084D8"/>
                </a:solidFill>
                <a:latin typeface="Calibri" pitchFamily="34" charset="0"/>
              </a:rPr>
              <a:t> (ADF)</a:t>
            </a:r>
            <a:endParaRPr lang="es-ES" sz="1100" dirty="0">
              <a:solidFill>
                <a:srgbClr val="C084D8"/>
              </a:solidFill>
              <a:latin typeface="Calibri" pitchFamily="34" charset="0"/>
            </a:endParaRPr>
          </a:p>
          <a:p>
            <a:pPr marL="0" indent="0">
              <a:buNone/>
            </a:pPr>
            <a:r>
              <a:rPr lang="es-ES" sz="1100" dirty="0">
                <a:solidFill>
                  <a:srgbClr val="C084D8"/>
                </a:solidFill>
                <a:latin typeface="Calibri" pitchFamily="34" charset="0"/>
              </a:rPr>
              <a:t>Convergencia fina sobre los </a:t>
            </a:r>
            <a:r>
              <a:rPr lang="es-ES" sz="1100" dirty="0" smtClean="0">
                <a:solidFill>
                  <a:srgbClr val="C084D8"/>
                </a:solidFill>
                <a:latin typeface="Calibri" pitchFamily="34" charset="0"/>
              </a:rPr>
              <a:t>parámetros</a:t>
            </a:r>
          </a:p>
          <a:p>
            <a:r>
              <a:rPr lang="es-ES" sz="1100" dirty="0" err="1" smtClean="0">
                <a:solidFill>
                  <a:srgbClr val="C084D8"/>
                </a:solidFill>
                <a:latin typeface="Calibri" pitchFamily="34" charset="0"/>
              </a:rPr>
              <a:t>Quasi</a:t>
            </a:r>
            <a:r>
              <a:rPr lang="es-ES" sz="1100" dirty="0" smtClean="0">
                <a:solidFill>
                  <a:srgbClr val="C084D8"/>
                </a:solidFill>
                <a:latin typeface="Calibri" pitchFamily="34" charset="0"/>
              </a:rPr>
              <a:t>-Newton</a:t>
            </a:r>
          </a:p>
          <a:p>
            <a:r>
              <a:rPr lang="es-ES" sz="1100" dirty="0" smtClean="0">
                <a:solidFill>
                  <a:srgbClr val="C084D8"/>
                </a:solidFill>
                <a:latin typeface="Calibri" pitchFamily="34" charset="0"/>
              </a:rPr>
              <a:t>Refina con precisión </a:t>
            </a:r>
            <a:endParaRPr lang="es-ES" sz="1100" dirty="0">
              <a:solidFill>
                <a:srgbClr val="C084D8"/>
              </a:solidFill>
              <a:latin typeface="Calibri" pitchFamily="34" charset="0"/>
            </a:endParaRPr>
          </a:p>
        </p:txBody>
      </p:sp>
      <p:sp>
        <p:nvSpPr>
          <p:cNvPr id="7" name="txt7"/>
          <p:cNvSpPr/>
          <p:nvPr/>
        </p:nvSpPr>
        <p:spPr>
          <a:xfrm>
            <a:off x="457200" y="3200000"/>
            <a:ext cx="8229600" cy="4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ES" sz="1100" b="1" dirty="0">
                <a:solidFill>
                  <a:srgbClr val="3D1F6D"/>
                </a:solidFill>
                <a:latin typeface="Calibri" pitchFamily="34" charset="0"/>
              </a:rPr>
              <a:t>15 parametros libres: 8 de conectividad + 4 de ruido + 3 de entrada</a:t>
            </a:r>
          </a:p>
        </p:txBody>
      </p:sp>
      <p:sp>
        <p:nvSpPr>
          <p:cNvPr id="8" name="card8"/>
          <p:cNvSpPr/>
          <p:nvPr/>
        </p:nvSpPr>
        <p:spPr>
          <a:xfrm>
            <a:off x="457200" y="3700000"/>
            <a:ext cx="8229600" cy="1100000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txBody>
          <a:bodyPr wrap="square" lIns="152400" tIns="152400" rIns="152400" rtlCol="0" anchor="t"/>
          <a:lstStyle/>
          <a:p>
            <a:pPr marL="0" indent="0">
              <a:buNone/>
            </a:pPr>
            <a:r>
              <a:rPr lang="es-ES" sz="1200" b="1" dirty="0">
                <a:solidFill>
                  <a:srgbClr val="6B3FA0"/>
                </a:solidFill>
                <a:latin typeface="Georgia" pitchFamily="34" charset="0"/>
              </a:rPr>
              <a:t>Objetivo del entrenamiento</a:t>
            </a:r>
          </a:p>
          <a:p>
            <a:pPr marL="0" indent="0">
              <a:buNone/>
            </a:pPr>
            <a:endParaRPr lang="es-ES" sz="1000" dirty="0"/>
          </a:p>
          <a:p>
            <a:pPr marL="0" indent="0">
              <a:buNone/>
            </a:pPr>
            <a:r>
              <a:rPr lang="es-ES" sz="1000" dirty="0">
                <a:solidFill>
                  <a:srgbClr val="5A5A6A"/>
                </a:solidFill>
                <a:latin typeface="Calibri" pitchFamily="34" charset="0"/>
              </a:rPr>
              <a:t>Ajustar los 15 parametros para que los momentos estadisticos de la red (media, varianza, covarianza, autocorrelacion) coincidan con los del modelo generativo GSM.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1F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brecha</a:t>
            </a:r>
            <a:endParaRPr lang="en-US" sz="2800" dirty="0"/>
          </a:p>
        </p:txBody>
      </p:sp>
      <p:sp>
        <p:nvSpPr>
          <p:cNvPr id="4" name="Oval 3"/>
          <p:cNvSpPr/>
          <p:nvPr/>
        </p:nvSpPr>
        <p:spPr>
          <a:xfrm>
            <a:off x="731520" y="914400"/>
            <a:ext cx="3200400" cy="1828800"/>
          </a:xfrm>
          <a:prstGeom prst="ellipse">
            <a:avLst/>
          </a:prstGeom>
          <a:solidFill>
            <a:srgbClr val="EDE5F7"/>
          </a:solidFill>
          <a:ln w="38100">
            <a:solidFill>
              <a:srgbClr val="6B3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 dirty="0">
                <a:solidFill>
                  <a:srgbClr val="3D1F6D"/>
                </a:solidFill>
                <a:latin typeface="Georgia"/>
              </a:rPr>
              <a:t>Cuppini</a:t>
            </a:r>
          </a:p>
          <a:p>
            <a:pPr algn="ctr"/>
            <a:endParaRPr lang="es-AR" sz="1200" dirty="0" smtClean="0">
              <a:solidFill>
                <a:srgbClr val="6B3FA0"/>
              </a:solidFill>
              <a:latin typeface="Calibri"/>
            </a:endParaRPr>
          </a:p>
          <a:p>
            <a:pPr algn="ctr"/>
            <a:r>
              <a:rPr sz="1200" dirty="0" smtClean="0">
                <a:solidFill>
                  <a:srgbClr val="6B3FA0"/>
                </a:solidFill>
                <a:latin typeface="Calibri"/>
              </a:rPr>
              <a:t>Multisensorial</a:t>
            </a:r>
            <a:r>
              <a:rPr sz="1200" dirty="0">
                <a:solidFill>
                  <a:srgbClr val="6B3FA0"/>
                </a:solidFill>
                <a:latin typeface="Calibri"/>
              </a:rPr>
              <a:t>
Determinista</a:t>
            </a:r>
          </a:p>
        </p:txBody>
      </p:sp>
      <p:sp>
        <p:nvSpPr>
          <p:cNvPr id="5" name="Oval 4"/>
          <p:cNvSpPr/>
          <p:nvPr/>
        </p:nvSpPr>
        <p:spPr>
          <a:xfrm>
            <a:off x="5212080" y="914400"/>
            <a:ext cx="3200400" cy="1828800"/>
          </a:xfrm>
          <a:prstGeom prst="ellipse">
            <a:avLst/>
          </a:prstGeom>
          <a:solidFill>
            <a:srgbClr val="FCE4EC"/>
          </a:solidFill>
          <a:ln w="38100">
            <a:solidFill>
              <a:srgbClr val="E84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 dirty="0" smtClean="0">
                <a:solidFill>
                  <a:srgbClr val="C62828"/>
                </a:solidFill>
                <a:latin typeface="Georgia"/>
              </a:rPr>
              <a:t>Echeveste</a:t>
            </a:r>
            <a:endParaRPr sz="2200" b="1" dirty="0">
              <a:solidFill>
                <a:srgbClr val="C62828"/>
              </a:solidFill>
              <a:latin typeface="Georgia"/>
            </a:endParaRPr>
          </a:p>
          <a:p>
            <a:pPr algn="ctr"/>
            <a:endParaRPr lang="es-AR" sz="1200" dirty="0" smtClean="0">
              <a:solidFill>
                <a:srgbClr val="E8428C"/>
              </a:solidFill>
              <a:latin typeface="Calibri"/>
            </a:endParaRPr>
          </a:p>
          <a:p>
            <a:pPr algn="ctr"/>
            <a:r>
              <a:rPr sz="1200" dirty="0" smtClean="0">
                <a:solidFill>
                  <a:srgbClr val="E8428C"/>
                </a:solidFill>
                <a:latin typeface="Calibri"/>
              </a:rPr>
              <a:t>Unimodal</a:t>
            </a:r>
            <a:r>
              <a:rPr sz="1200" dirty="0">
                <a:solidFill>
                  <a:srgbClr val="E8428C"/>
                </a:solidFill>
                <a:latin typeface="Calibri"/>
              </a:rPr>
              <a:t>
Estocástico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1280160"/>
            <a:ext cx="1280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600" b="1" i="0">
                <a:solidFill>
                  <a:srgbClr val="AAAABB"/>
                </a:solidFill>
                <a:latin typeface="Georgia"/>
              </a:rPr>
              <a:t>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00400"/>
            <a:ext cx="2194560" cy="1371600"/>
          </a:xfrm>
          <a:prstGeom prst="roundRect">
            <a:avLst/>
          </a:prstGeom>
          <a:solidFill>
            <a:srgbClr val="EDE5F7"/>
          </a:solidFill>
          <a:ln w="25400">
            <a:solidFill>
              <a:srgbClr val="6B3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dirty="0">
                <a:solidFill>
                  <a:srgbClr val="3D1F6D"/>
                </a:solidFill>
                <a:latin typeface="Georgia"/>
              </a:rPr>
              <a:t>Cuppini
(multisensorial)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3200400"/>
            <a:ext cx="2194560" cy="1371600"/>
          </a:xfrm>
          <a:prstGeom prst="roundRect">
            <a:avLst/>
          </a:prstGeom>
          <a:solidFill>
            <a:srgbClr val="FCE4EC"/>
          </a:solidFill>
          <a:ln w="25400">
            <a:solidFill>
              <a:srgbClr val="E84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dirty="0">
                <a:solidFill>
                  <a:srgbClr val="E8428C"/>
                </a:solidFill>
                <a:latin typeface="Georgia"/>
              </a:rPr>
              <a:t>Echeveste
(</a:t>
            </a:r>
            <a:r>
              <a:rPr sz="1400" b="1" dirty="0" err="1">
                <a:solidFill>
                  <a:srgbClr val="E8428C"/>
                </a:solidFill>
                <a:latin typeface="Georgia"/>
              </a:rPr>
              <a:t>dinámicas</a:t>
            </a:r>
            <a:r>
              <a:rPr sz="1400" b="1" dirty="0">
                <a:solidFill>
                  <a:srgbClr val="E8428C"/>
                </a:solidFill>
                <a:latin typeface="Georgia"/>
              </a:rPr>
              <a:t>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3200400"/>
            <a:ext cx="2194560" cy="1371600"/>
          </a:xfrm>
          <a:prstGeom prst="roundRect">
            <a:avLst/>
          </a:prstGeom>
          <a:solidFill>
            <a:srgbClr val="E0D5F0"/>
          </a:solidFill>
          <a:ln w="25400">
            <a:solidFill>
              <a:srgbClr val="3D1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3D1F6D"/>
                </a:solidFill>
                <a:latin typeface="Georgia"/>
              </a:rPr>
              <a:t>Modelo
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34747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2E"/>
                </a:solidFill>
                <a:latin typeface="Calibri"/>
              </a:rPr>
              <a:t>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0" y="34747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2E"/>
                </a:solidFill>
                <a:latin typeface="Calibri"/>
              </a:rPr>
              <a:t>=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3D1F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8046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Scikit-NeuroMSI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 la implementación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08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camino de OCaml a Python/JAX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88135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1F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Scikit-NeuroMSI</a:t>
            </a:r>
            <a:endParaRPr lang="en-US" sz="2800" dirty="0"/>
          </a:p>
        </p:txBody>
      </p:sp>
      <p:sp>
        <p:nvSpPr>
          <p:cNvPr id="21" name="subtitle"/>
          <p:cNvSpPr/>
          <p:nvPr/>
        </p:nvSpPr>
        <p:spPr>
          <a:xfrm>
            <a:off x="457200" y="6864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400" i="1" dirty="0">
                <a:solidFill>
                  <a:srgbClr val="9B6DC8"/>
                </a:solidFill>
                <a:latin typeface="Calibri" pitchFamily="34" charset="0"/>
              </a:rPr>
              <a:t>Framework de código abierto para modelado de integración multisensorial</a:t>
            </a:r>
          </a:p>
        </p:txBody>
      </p:sp>
      <p:sp>
        <p:nvSpPr>
          <p:cNvPr id="30" name="col_left_bg"/>
          <p:cNvSpPr/>
          <p:nvPr/>
        </p:nvSpPr>
        <p:spPr>
          <a:xfrm>
            <a:off x="456720" y="1404745"/>
            <a:ext cx="4023360" cy="2977970"/>
          </a:xfrm>
          <a:prstGeom prst="rect">
            <a:avLst/>
          </a:prstGeom>
          <a:solidFill>
            <a:srgbClr val="F3EEFA"/>
          </a:solidFill>
          <a:ln>
            <a:noFill/>
          </a:ln>
        </p:spPr>
      </p:sp>
      <p:sp>
        <p:nvSpPr>
          <p:cNvPr id="31" name="col_left_text"/>
          <p:cNvSpPr/>
          <p:nvPr/>
        </p:nvSpPr>
        <p:spPr>
          <a:xfrm>
            <a:off x="548160" y="1475865"/>
            <a:ext cx="3840480" cy="2849654"/>
          </a:xfrm>
          <a:prstGeom prst="rect">
            <a:avLst/>
          </a:prstGeom>
          <a:noFill/>
          <a:ln/>
        </p:spPr>
        <p:txBody>
          <a:bodyPr wrap="square" lIns="91440" tIns="91440" rtlCol="0" anchor="t"/>
          <a:lstStyle/>
          <a:p>
            <a:pPr marL="0" indent="0">
              <a:buNone/>
            </a:pPr>
            <a:r>
              <a:rPr lang="es-ES" sz="1300" b="1" dirty="0" smtClean="0">
                <a:solidFill>
                  <a:srgbClr val="3D1F6D"/>
                </a:solidFill>
                <a:latin typeface="Georgia" pitchFamily="34" charset="0"/>
              </a:rPr>
              <a:t>¿Qué es?</a:t>
            </a:r>
          </a:p>
          <a:p>
            <a:pPr marL="0" indent="0">
              <a:buNone/>
            </a:pPr>
            <a:endParaRPr lang="es-ES" sz="1000" dirty="0"/>
          </a:p>
          <a:p>
            <a:pPr marL="0" indent="0">
              <a:buNone/>
            </a:pPr>
            <a:r>
              <a:rPr lang="es-ES" sz="1100" dirty="0" smtClean="0">
                <a:solidFill>
                  <a:srgbClr val="444444"/>
                </a:solidFill>
                <a:latin typeface="Calibri" pitchFamily="34" charset="0"/>
              </a:rPr>
              <a:t>Es una herramienta diseñada específicamente </a:t>
            </a:r>
            <a:r>
              <a:rPr lang="es-ES" sz="1100" dirty="0">
                <a:solidFill>
                  <a:srgbClr val="444444"/>
                </a:solidFill>
                <a:latin typeface="Calibri" pitchFamily="34" charset="0"/>
              </a:rPr>
              <a:t>para modelos de integración multisensorial, desarrollada por </a:t>
            </a:r>
            <a:r>
              <a:rPr lang="es-ES" sz="1100" dirty="0" smtClean="0">
                <a:solidFill>
                  <a:srgbClr val="444444"/>
                </a:solidFill>
                <a:latin typeface="Calibri" pitchFamily="34" charset="0"/>
              </a:rPr>
              <a:t>el Doc. Paredes y el Doc. Cabral.</a:t>
            </a:r>
            <a:endParaRPr lang="es-ES" sz="1100" dirty="0">
              <a:solidFill>
                <a:srgbClr val="444444"/>
              </a:solidFill>
              <a:latin typeface="Calibri" pitchFamily="34" charset="0"/>
            </a:endParaRPr>
          </a:p>
          <a:p>
            <a:pPr marL="0" indent="0">
              <a:buNone/>
            </a:pPr>
            <a:endParaRPr lang="es-ES" sz="1000" dirty="0"/>
          </a:p>
          <a:p>
            <a:pPr marL="0" indent="0">
              <a:buNone/>
            </a:pPr>
            <a:r>
              <a:rPr lang="es-ES" sz="1300" b="1" dirty="0">
                <a:solidFill>
                  <a:srgbClr val="3D1F6D"/>
                </a:solidFill>
                <a:latin typeface="Georgia" pitchFamily="34" charset="0"/>
              </a:rPr>
              <a:t>Modelos incluidos</a:t>
            </a:r>
          </a:p>
          <a:p>
            <a:pPr marL="0" indent="0">
              <a:buNone/>
            </a:pPr>
            <a:endParaRPr lang="es-ES" sz="1000" dirty="0"/>
          </a:p>
          <a:p>
            <a:pPr marL="0" indent="0">
              <a:buNone/>
            </a:pPr>
            <a:r>
              <a:rPr lang="es-ES" sz="1100" dirty="0">
                <a:solidFill>
                  <a:srgbClr val="444444"/>
                </a:solidFill>
                <a:latin typeface="Calibri" pitchFamily="34" charset="0"/>
              </a:rPr>
              <a:t>• Integrador bimodal óptimo (MLE)</a:t>
            </a:r>
          </a:p>
          <a:p>
            <a:pPr marL="0" indent="0">
              <a:buNone/>
            </a:pPr>
            <a:r>
              <a:rPr lang="es-ES" sz="1100" dirty="0">
                <a:solidFill>
                  <a:srgbClr val="444444"/>
                </a:solidFill>
                <a:latin typeface="Calibri" pitchFamily="34" charset="0"/>
              </a:rPr>
              <a:t>• Inferencia causal bayesiana (Körding et al.)</a:t>
            </a:r>
          </a:p>
          <a:p>
            <a:pPr marL="0" indent="0">
              <a:buNone/>
            </a:pPr>
            <a:r>
              <a:rPr lang="es-ES" sz="1100" dirty="0">
                <a:solidFill>
                  <a:srgbClr val="444444"/>
                </a:solidFill>
                <a:latin typeface="Calibri" pitchFamily="34" charset="0"/>
              </a:rPr>
              <a:t>• Red neuronal de Cuppini (audiovisual)</a:t>
            </a:r>
          </a:p>
          <a:p>
            <a:pPr marL="0" indent="0">
              <a:buNone/>
            </a:pPr>
            <a:r>
              <a:rPr lang="es-ES" sz="1100" b="1" dirty="0">
                <a:solidFill>
                  <a:srgbClr val="6B3FA0"/>
                </a:solidFill>
                <a:latin typeface="Calibri" pitchFamily="34" charset="0"/>
              </a:rPr>
              <a:t>• + Echeveste (este trabajo)</a:t>
            </a:r>
          </a:p>
        </p:txBody>
      </p:sp>
      <p:sp>
        <p:nvSpPr>
          <p:cNvPr id="32" name="col_right_text"/>
          <p:cNvSpPr/>
          <p:nvPr/>
        </p:nvSpPr>
        <p:spPr>
          <a:xfrm>
            <a:off x="4663440" y="1404745"/>
            <a:ext cx="4023360" cy="2977970"/>
          </a:xfrm>
          <a:prstGeom prst="rect">
            <a:avLst/>
          </a:prstGeom>
          <a:noFill/>
          <a:ln/>
        </p:spPr>
        <p:txBody>
          <a:bodyPr wrap="square" lIns="91440" tIns="91440" rtlCol="0" anchor="t"/>
          <a:lstStyle/>
          <a:p>
            <a:pPr marL="0" indent="0">
              <a:buNone/>
            </a:pPr>
            <a:r>
              <a:rPr lang="es-ES" sz="1300" b="1" dirty="0">
                <a:solidFill>
                  <a:srgbClr val="3D1F6D"/>
                </a:solidFill>
                <a:latin typeface="Georgia" pitchFamily="34" charset="0"/>
              </a:rPr>
              <a:t>¿Para qué sirve?</a:t>
            </a:r>
          </a:p>
          <a:p>
            <a:pPr marL="0" indent="0">
              <a:buNone/>
            </a:pPr>
            <a:endParaRPr lang="es-ES" sz="1000" dirty="0"/>
          </a:p>
          <a:p>
            <a:pPr marL="0" indent="0">
              <a:buNone/>
            </a:pPr>
            <a:r>
              <a:rPr lang="es-ES" sz="1100" dirty="0">
                <a:solidFill>
                  <a:srgbClr val="444444"/>
                </a:solidFill>
                <a:latin typeface="Calibri" pitchFamily="34" charset="0"/>
              </a:rPr>
              <a:t>• Implementar y comparar modelos multisensoriales con interfaz estandarizada</a:t>
            </a:r>
          </a:p>
          <a:p>
            <a:pPr marL="0" indent="0">
              <a:buNone/>
            </a:pPr>
            <a:r>
              <a:rPr lang="es-ES" sz="1100" dirty="0">
                <a:solidFill>
                  <a:srgbClr val="444444"/>
                </a:solidFill>
                <a:latin typeface="Calibri" pitchFamily="34" charset="0"/>
              </a:rPr>
              <a:t>• Garantizar reproducibilidad computacional</a:t>
            </a:r>
          </a:p>
          <a:p>
            <a:pPr marL="0" indent="0">
              <a:buNone/>
            </a:pPr>
            <a:r>
              <a:rPr lang="es-ES" sz="1100" dirty="0">
                <a:solidFill>
                  <a:srgbClr val="444444"/>
                </a:solidFill>
                <a:latin typeface="Calibri" pitchFamily="34" charset="0"/>
              </a:rPr>
              <a:t>• Barridos de parámetros y análisis de resultados integrados</a:t>
            </a:r>
          </a:p>
          <a:p>
            <a:pPr marL="0" indent="0">
              <a:buNone/>
            </a:pPr>
            <a:endParaRPr lang="es-ES" sz="1000" dirty="0"/>
          </a:p>
          <a:p>
            <a:pPr marL="0" indent="0">
              <a:buNone/>
            </a:pPr>
            <a:r>
              <a:rPr lang="es-ES" sz="1300" b="1" dirty="0">
                <a:solidFill>
                  <a:srgbClr val="3D1F6D"/>
                </a:solidFill>
                <a:latin typeface="Georgia" pitchFamily="34" charset="0"/>
              </a:rPr>
              <a:t>Tecnología</a:t>
            </a:r>
          </a:p>
          <a:p>
            <a:pPr marL="0" indent="0">
              <a:buNone/>
            </a:pPr>
            <a:endParaRPr lang="es-ES" sz="1000" dirty="0"/>
          </a:p>
          <a:p>
            <a:pPr marL="0" indent="0">
              <a:buNone/>
            </a:pPr>
            <a:r>
              <a:rPr lang="es-ES" sz="1100" dirty="0">
                <a:solidFill>
                  <a:srgbClr val="444444"/>
                </a:solidFill>
                <a:latin typeface="Calibri" pitchFamily="34" charset="0"/>
              </a:rPr>
              <a:t>JAX • XArray • NetCDF • soporte GPU</a:t>
            </a:r>
          </a:p>
          <a:p>
            <a:pPr marL="0" indent="0">
              <a:buNone/>
            </a:pPr>
            <a:endParaRPr lang="es-ES" sz="1000" dirty="0"/>
          </a:p>
          <a:p>
            <a:pPr marL="0" indent="0">
              <a:buNone/>
            </a:pPr>
            <a:r>
              <a:rPr lang="es-ES" sz="1100" dirty="0">
                <a:solidFill>
                  <a:srgbClr val="444444"/>
                </a:solidFill>
                <a:latin typeface="Calibri" pitchFamily="34" charset="0"/>
              </a:rPr>
              <a:t>Licencia BSD 3-Clause • GitHub + ReadTheDocs</a:t>
            </a:r>
          </a:p>
          <a:p>
            <a:pPr marL="0" indent="0">
              <a:buNone/>
            </a:pPr>
            <a:endParaRPr lang="es-ES" sz="1000" dirty="0"/>
          </a:p>
          <a:p>
            <a:pPr marL="0" indent="0">
              <a:buNone/>
            </a:pPr>
            <a:r>
              <a:rPr lang="es-ES" sz="1200" b="1" dirty="0">
                <a:solidFill>
                  <a:srgbClr val="6B3FA0"/>
                </a:solidFill>
                <a:latin typeface="Consolas" pitchFamily="34" charset="0"/>
              </a:rPr>
              <a:t>pip install scikit-neuromsi</a:t>
            </a:r>
          </a:p>
        </p:txBody>
      </p:sp>
    </p:spTree>
    <p:extLst>
      <p:ext uri="{BB962C8B-B14F-4D97-AF65-F5344CB8AC3E}">
        <p14:creationId xmlns:p14="http://schemas.microsoft.com/office/powerpoint/2010/main" val="3596094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1F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Arquitectura del software</a:t>
            </a:r>
            <a:endParaRPr lang="en-US" sz="2800" dirty="0"/>
          </a:p>
        </p:txBody>
      </p:sp>
      <p:pic>
        <p:nvPicPr>
          <p:cNvPr id="4" name="Image 0" descr="/home/claude/figures/uml_diagram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822960"/>
            <a:ext cx="8229600" cy="39319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1F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implementamos?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E84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Reimplementación completa: </a:t>
            </a:r>
            <a:r>
              <a:rPr lang="en-US" sz="1200" b="1" i="1" dirty="0" smtClean="0">
                <a:solidFill>
                  <a:srgbClr val="E84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Python/</a:t>
            </a:r>
            <a:r>
              <a:rPr lang="en-US" sz="1200" b="1" i="1" dirty="0" err="1" smtClean="0">
                <a:solidFill>
                  <a:srgbClr val="E84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OCaml</a:t>
            </a:r>
            <a:r>
              <a:rPr lang="en-US" sz="1200" b="1" i="1" dirty="0" smtClean="0">
                <a:solidFill>
                  <a:srgbClr val="E84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i="1" dirty="0">
                <a:solidFill>
                  <a:srgbClr val="E84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Python/JAX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371600"/>
            <a:ext cx="457200" cy="457200"/>
          </a:xfrm>
          <a:prstGeom prst="ellipse">
            <a:avLst/>
          </a:prstGeom>
          <a:solidFill>
            <a:srgbClr val="6B3FA0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1188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3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Modelo generativo GSM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15544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de Gabor, estímulos, momentos objetivo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92040" y="1371600"/>
            <a:ext cx="457200" cy="457200"/>
          </a:xfrm>
          <a:prstGeom prst="ellipse">
            <a:avLst/>
          </a:prstGeom>
          <a:solidFill>
            <a:srgbClr val="6B3FA0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0" y="1188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3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Integrador SSN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0" y="15544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Dinámica neuronal, activación supralineal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33172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2606040"/>
            <a:ext cx="457200" cy="457200"/>
          </a:xfrm>
          <a:prstGeom prst="ellipse">
            <a:avLst/>
          </a:prstGeom>
          <a:solidFill>
            <a:srgbClr val="6B3FA0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2423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3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Conectividad en anillo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27889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Parametrización circulante, principio de Dale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33172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92040" y="2606040"/>
            <a:ext cx="457200" cy="457200"/>
          </a:xfrm>
          <a:prstGeom prst="ellipse">
            <a:avLst/>
          </a:prstGeom>
          <a:solidFill>
            <a:srgbClr val="6B3FA0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86400" y="2423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3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de entrenamiento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0" y="27889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+ L-BFGS-B, función de costo 4 términos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56616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2920" y="3840480"/>
            <a:ext cx="457200" cy="457200"/>
          </a:xfrm>
          <a:prstGeom prst="ellipse">
            <a:avLst/>
          </a:prstGeom>
          <a:solidFill>
            <a:srgbClr val="6B3FA0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97280" y="36576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3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Visualización y análisis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97280" y="40233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Potenciales, espectros, transitorios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356616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92040" y="3840480"/>
            <a:ext cx="457200" cy="457200"/>
          </a:xfrm>
          <a:prstGeom prst="ellipse">
            <a:avLst/>
          </a:prstGeom>
          <a:solidFill>
            <a:srgbClr val="6B3FA0"/>
          </a:solidFill>
          <a:ln/>
        </p:spPr>
      </p:sp>
      <p:sp>
        <p:nvSpPr>
          <p:cNvPr id="32" name="Text 30"/>
          <p:cNvSpPr/>
          <p:nvPr/>
        </p:nvSpPr>
        <p:spPr>
          <a:xfrm>
            <a:off x="4892040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486400" y="36576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3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Cargador de datos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86400" y="40233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 pre-entrenados del paper original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D1F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8046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Resultados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 err="1" smtClean="0">
                <a:solidFill>
                  <a:srgbClr val="C08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</a:t>
            </a:r>
            <a:r>
              <a:rPr lang="en-US" sz="1600" i="1" dirty="0" smtClean="0">
                <a:solidFill>
                  <a:srgbClr val="C08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 smtClean="0">
                <a:solidFill>
                  <a:srgbClr val="C08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</a:t>
            </a:r>
            <a:r>
              <a:rPr lang="en-US" sz="1600" i="1" dirty="0" smtClean="0">
                <a:solidFill>
                  <a:srgbClr val="C08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1600" i="1" dirty="0" err="1" smtClean="0">
                <a:solidFill>
                  <a:srgbClr val="C08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Entrenamiento</a:t>
            </a:r>
            <a:r>
              <a:rPr lang="en-US" sz="1600" i="1" dirty="0" smtClean="0">
                <a:solidFill>
                  <a:srgbClr val="C08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en-US" sz="1600" i="1" dirty="0" err="1" smtClean="0">
                <a:solidFill>
                  <a:srgbClr val="C08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Comportamiento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" name="title"/>
          <p:cNvSpPr/>
          <p:nvPr/>
        </p:nvSpPr>
        <p:spPr>
          <a:xfrm>
            <a:off x="457200" y="284734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2800" b="1" dirty="0" smtClean="0">
                <a:solidFill>
                  <a:srgbClr val="3D1F6D"/>
                </a:solidFill>
                <a:latin typeface="Georgia" pitchFamily="34" charset="0"/>
              </a:rPr>
              <a:t>3 niveles </a:t>
            </a:r>
            <a:r>
              <a:rPr lang="es-ES" sz="2800" b="1" dirty="0">
                <a:solidFill>
                  <a:srgbClr val="3D1F6D"/>
                </a:solidFill>
                <a:latin typeface="Georgia" pitchFamily="34" charset="0"/>
              </a:rPr>
              <a:t>de validación</a:t>
            </a:r>
          </a:p>
        </p:txBody>
      </p:sp>
      <p:sp>
        <p:nvSpPr>
          <p:cNvPr id="4" name="subtitle"/>
          <p:cNvSpPr/>
          <p:nvPr/>
        </p:nvSpPr>
        <p:spPr>
          <a:xfrm>
            <a:off x="457200" y="856361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200" i="1" dirty="0">
                <a:solidFill>
                  <a:srgbClr val="9B6DC8"/>
                </a:solidFill>
                <a:latin typeface="Calibri" pitchFamily="34" charset="0"/>
              </a:rPr>
              <a:t>De componentes individuales a propiedades emergentes del sistema completo</a:t>
            </a:r>
          </a:p>
        </p:txBody>
      </p:sp>
      <p:sp>
        <p:nvSpPr>
          <p:cNvPr id="10" name="card1_bg"/>
          <p:cNvSpPr/>
          <p:nvPr/>
        </p:nvSpPr>
        <p:spPr>
          <a:xfrm>
            <a:off x="250190" y="1554480"/>
            <a:ext cx="2743200" cy="2518410"/>
          </a:xfrm>
          <a:prstGeom prst="rect">
            <a:avLst/>
          </a:prstGeom>
          <a:solidFill>
            <a:srgbClr val="EDE5F7"/>
          </a:solidFill>
          <a:ln>
            <a:noFill/>
          </a:ln>
        </p:spPr>
      </p:sp>
      <p:sp>
        <p:nvSpPr>
          <p:cNvPr id="11" name="card1_num"/>
          <p:cNvSpPr/>
          <p:nvPr/>
        </p:nvSpPr>
        <p:spPr>
          <a:xfrm>
            <a:off x="250190" y="1554480"/>
            <a:ext cx="548640" cy="548640"/>
          </a:xfrm>
          <a:prstGeom prst="rect">
            <a:avLst/>
          </a:prstGeom>
          <a:solidFill>
            <a:srgbClr val="6B3FA0"/>
          </a:solidFill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2000" b="1" dirty="0">
                <a:solidFill>
                  <a:srgbClr val="FFFFFF"/>
                </a:solidFill>
                <a:latin typeface="Georgia" pitchFamily="34" charset="0"/>
              </a:rPr>
              <a:t>1</a:t>
            </a:r>
          </a:p>
        </p:txBody>
      </p:sp>
      <p:sp>
        <p:nvSpPr>
          <p:cNvPr id="12" name="card1_text"/>
          <p:cNvSpPr/>
          <p:nvPr/>
        </p:nvSpPr>
        <p:spPr>
          <a:xfrm>
            <a:off x="341630" y="2148840"/>
            <a:ext cx="2560320" cy="1924050"/>
          </a:xfrm>
          <a:prstGeom prst="rect">
            <a:avLst/>
          </a:prstGeom>
          <a:noFill/>
          <a:ln/>
        </p:spPr>
        <p:txBody>
          <a:bodyPr wrap="square" lIns="91440" tIns="0" rtlCol="0" anchor="t"/>
          <a:lstStyle/>
          <a:p>
            <a:pPr marL="0" indent="0">
              <a:buNone/>
            </a:pPr>
            <a:r>
              <a:rPr lang="es-ES" sz="1300" b="1" dirty="0">
                <a:solidFill>
                  <a:srgbClr val="3D1F6D"/>
                </a:solidFill>
                <a:latin typeface="Georgia" pitchFamily="34" charset="0"/>
              </a:rPr>
              <a:t>Pruebas unitarias</a:t>
            </a:r>
          </a:p>
          <a:p>
            <a:pPr marL="0" indent="0">
              <a:buNone/>
            </a:pPr>
            <a:endParaRPr lang="es-ES" sz="900" dirty="0"/>
          </a:p>
          <a:p>
            <a:r>
              <a:rPr lang="es-ES" sz="1050" dirty="0">
                <a:solidFill>
                  <a:srgbClr val="444444"/>
                </a:solidFill>
                <a:latin typeface="Calibri" pitchFamily="34" charset="0"/>
              </a:rPr>
              <a:t>Verifican componentes </a:t>
            </a:r>
            <a:r>
              <a:rPr lang="es-ES" sz="1050" dirty="0" smtClean="0">
                <a:solidFill>
                  <a:srgbClr val="444444"/>
                </a:solidFill>
                <a:latin typeface="Calibri" pitchFamily="34" charset="0"/>
              </a:rPr>
              <a:t>aislados </a:t>
            </a:r>
            <a:r>
              <a:rPr lang="pt-BR" sz="1050" dirty="0" smtClean="0">
                <a:solidFill>
                  <a:srgbClr val="444444"/>
                </a:solidFill>
                <a:latin typeface="Calibri" pitchFamily="34" charset="0"/>
              </a:rPr>
              <a:t>contra </a:t>
            </a:r>
            <a:r>
              <a:rPr lang="pt-BR" sz="1050" dirty="0">
                <a:solidFill>
                  <a:srgbClr val="444444"/>
                </a:solidFill>
                <a:latin typeface="Calibri" pitchFamily="34" charset="0"/>
              </a:rPr>
              <a:t>código original de Echeveste</a:t>
            </a:r>
            <a:r>
              <a:rPr lang="es-ES" sz="1050" dirty="0" smtClean="0">
                <a:solidFill>
                  <a:srgbClr val="444444"/>
                </a:solidFill>
                <a:latin typeface="Calibri" pitchFamily="34" charset="0"/>
              </a:rPr>
              <a:t>:</a:t>
            </a:r>
            <a:endParaRPr lang="es-ES" sz="1050" dirty="0">
              <a:solidFill>
                <a:srgbClr val="444444"/>
              </a:solidFill>
              <a:latin typeface="Calibri" pitchFamily="34" charset="0"/>
            </a:endParaRPr>
          </a:p>
          <a:p>
            <a:pPr marL="0" indent="0">
              <a:buNone/>
            </a:pPr>
            <a:endParaRPr lang="es-ES" sz="900" dirty="0"/>
          </a:p>
          <a:p>
            <a:pPr marL="0" indent="0">
              <a:buNone/>
            </a:pPr>
            <a:r>
              <a:rPr lang="es-ES" sz="1000" dirty="0">
                <a:solidFill>
                  <a:srgbClr val="555555"/>
                </a:solidFill>
                <a:latin typeface="Calibri" pitchFamily="34" charset="0"/>
              </a:rPr>
              <a:t>• Inicialización con parámetros por defecto y personalizados</a:t>
            </a:r>
          </a:p>
          <a:p>
            <a:pPr marL="0" indent="0">
              <a:buNone/>
            </a:pPr>
            <a:r>
              <a:rPr lang="es-ES" sz="1000" dirty="0">
                <a:solidFill>
                  <a:srgbClr val="555555"/>
                </a:solidFill>
                <a:latin typeface="Calibri" pitchFamily="34" charset="0"/>
              </a:rPr>
              <a:t>• </a:t>
            </a:r>
            <a:r>
              <a:rPr lang="es-ES" sz="1000" dirty="0" smtClean="0">
                <a:solidFill>
                  <a:srgbClr val="555555"/>
                </a:solidFill>
                <a:latin typeface="Calibri" pitchFamily="34" charset="0"/>
              </a:rPr>
              <a:t>Generación de matriz </a:t>
            </a:r>
            <a:r>
              <a:rPr lang="es-ES" sz="1000" dirty="0">
                <a:solidFill>
                  <a:srgbClr val="555555"/>
                </a:solidFill>
                <a:latin typeface="Calibri" pitchFamily="34" charset="0"/>
              </a:rPr>
              <a:t>W: principio de Dale, anillo, bloques E/I</a:t>
            </a:r>
          </a:p>
          <a:p>
            <a:pPr marL="0" indent="0">
              <a:buNone/>
            </a:pPr>
            <a:r>
              <a:rPr lang="es-ES" sz="1000" dirty="0">
                <a:solidFill>
                  <a:srgbClr val="555555"/>
                </a:solidFill>
                <a:latin typeface="Calibri" pitchFamily="34" charset="0"/>
              </a:rPr>
              <a:t>• Activación supralineal k·[u]²</a:t>
            </a:r>
          </a:p>
          <a:p>
            <a:pPr marL="0" indent="0">
              <a:buNone/>
            </a:pPr>
            <a:r>
              <a:rPr lang="es-ES" sz="1000" dirty="0">
                <a:solidFill>
                  <a:srgbClr val="555555"/>
                </a:solidFill>
                <a:latin typeface="Calibri" pitchFamily="34" charset="0"/>
              </a:rPr>
              <a:t>• Entrenamiento ADAM + L-BFGS-B</a:t>
            </a:r>
          </a:p>
          <a:p>
            <a:pPr marL="0" indent="0">
              <a:buNone/>
            </a:pPr>
            <a:r>
              <a:rPr lang="es-ES" sz="1000" dirty="0">
                <a:solidFill>
                  <a:srgbClr val="555555"/>
                </a:solidFill>
                <a:latin typeface="Calibri" pitchFamily="34" charset="0"/>
              </a:rPr>
              <a:t>• Covarianza de ruido Ση</a:t>
            </a:r>
          </a:p>
        </p:txBody>
      </p:sp>
      <p:sp>
        <p:nvSpPr>
          <p:cNvPr id="20" name="card2_bg"/>
          <p:cNvSpPr/>
          <p:nvPr/>
        </p:nvSpPr>
        <p:spPr>
          <a:xfrm>
            <a:off x="3176270" y="1554480"/>
            <a:ext cx="2743200" cy="2518410"/>
          </a:xfrm>
          <a:prstGeom prst="rect">
            <a:avLst/>
          </a:prstGeom>
          <a:solidFill>
            <a:srgbClr val="6B3FA0"/>
          </a:solidFill>
          <a:ln>
            <a:noFill/>
          </a:ln>
        </p:spPr>
      </p:sp>
      <p:sp>
        <p:nvSpPr>
          <p:cNvPr id="21" name="card2_num"/>
          <p:cNvSpPr/>
          <p:nvPr/>
        </p:nvSpPr>
        <p:spPr>
          <a:xfrm>
            <a:off x="3176270" y="1554480"/>
            <a:ext cx="548640" cy="548640"/>
          </a:xfrm>
          <a:prstGeom prst="rect">
            <a:avLst/>
          </a:prstGeom>
          <a:solidFill>
            <a:srgbClr val="3D1F6D"/>
          </a:solidFill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2000" b="1" dirty="0">
                <a:solidFill>
                  <a:srgbClr val="FFFFFF"/>
                </a:solidFill>
                <a:latin typeface="Georgia" pitchFamily="34" charset="0"/>
              </a:rPr>
              <a:t>2</a:t>
            </a:r>
          </a:p>
        </p:txBody>
      </p:sp>
      <p:sp>
        <p:nvSpPr>
          <p:cNvPr id="22" name="card2_text"/>
          <p:cNvSpPr/>
          <p:nvPr/>
        </p:nvSpPr>
        <p:spPr>
          <a:xfrm>
            <a:off x="3267710" y="2148840"/>
            <a:ext cx="2560320" cy="1924050"/>
          </a:xfrm>
          <a:prstGeom prst="rect">
            <a:avLst/>
          </a:prstGeom>
          <a:noFill/>
          <a:ln/>
        </p:spPr>
        <p:txBody>
          <a:bodyPr wrap="square" lIns="91440" tIns="0" rtlCol="0" anchor="t"/>
          <a:lstStyle/>
          <a:p>
            <a:pPr marL="0" indent="0">
              <a:buNone/>
            </a:pPr>
            <a:r>
              <a:rPr lang="es-ES" sz="1300" b="1" dirty="0" smtClean="0">
                <a:solidFill>
                  <a:srgbClr val="FFFFFF"/>
                </a:solidFill>
                <a:latin typeface="Georgia" pitchFamily="34" charset="0"/>
              </a:rPr>
              <a:t>Entrenamiento robusto</a:t>
            </a:r>
            <a:endParaRPr lang="es-ES" sz="1300" b="1" dirty="0">
              <a:solidFill>
                <a:srgbClr val="FFFFFF"/>
              </a:solidFill>
              <a:latin typeface="Georgia" pitchFamily="34" charset="0"/>
            </a:endParaRPr>
          </a:p>
          <a:p>
            <a:pPr marL="0" indent="0">
              <a:buNone/>
            </a:pPr>
            <a:endParaRPr lang="es-ES" sz="900" dirty="0"/>
          </a:p>
          <a:p>
            <a:pPr marL="0" indent="0">
              <a:buNone/>
            </a:pPr>
            <a:r>
              <a:rPr lang="es-ES" sz="1050" dirty="0" smtClean="0">
                <a:solidFill>
                  <a:srgbClr val="D0C0E8"/>
                </a:solidFill>
                <a:latin typeface="Calibri" pitchFamily="34" charset="0"/>
              </a:rPr>
              <a:t>Entrenamientos partiendo de las mismas bases:</a:t>
            </a:r>
          </a:p>
          <a:p>
            <a:pPr marL="0" indent="0">
              <a:buNone/>
            </a:pPr>
            <a:endParaRPr lang="es-ES" sz="900" dirty="0" smtClean="0"/>
          </a:p>
          <a:p>
            <a:pPr marL="0" indent="0">
              <a:buNone/>
            </a:pPr>
            <a:r>
              <a:rPr lang="es-ES" sz="1000" dirty="0" smtClean="0">
                <a:solidFill>
                  <a:srgbClr val="E0D0F0"/>
                </a:solidFill>
                <a:latin typeface="Calibri" pitchFamily="34" charset="0"/>
              </a:rPr>
              <a:t>• Zona de confianza del 10%</a:t>
            </a:r>
          </a:p>
          <a:p>
            <a:r>
              <a:rPr lang="es-ES" sz="900" dirty="0" smtClean="0">
                <a:solidFill>
                  <a:srgbClr val="E0D0F0"/>
                </a:solidFill>
                <a:latin typeface="Calibri" pitchFamily="34" charset="0"/>
              </a:rPr>
              <a:t>• Simulaciones con los parámetros obtenidos</a:t>
            </a:r>
          </a:p>
          <a:p>
            <a:r>
              <a:rPr lang="es-ES" sz="900" dirty="0" smtClean="0">
                <a:solidFill>
                  <a:srgbClr val="E0D0F0"/>
                </a:solidFill>
                <a:latin typeface="Calibri" pitchFamily="34" charset="0"/>
              </a:rPr>
              <a:t>• Carga y utilización de los parámetros </a:t>
            </a:r>
            <a:endParaRPr lang="es-ES" sz="900" dirty="0"/>
          </a:p>
        </p:txBody>
      </p:sp>
      <p:sp>
        <p:nvSpPr>
          <p:cNvPr id="30" name="card3_bg"/>
          <p:cNvSpPr/>
          <p:nvPr/>
        </p:nvSpPr>
        <p:spPr>
          <a:xfrm>
            <a:off x="6102350" y="1554480"/>
            <a:ext cx="2743200" cy="2518410"/>
          </a:xfrm>
          <a:prstGeom prst="rect">
            <a:avLst/>
          </a:prstGeom>
          <a:solidFill>
            <a:srgbClr val="EDE5F7"/>
          </a:solidFill>
          <a:ln>
            <a:noFill/>
          </a:ln>
        </p:spPr>
      </p:sp>
      <p:sp>
        <p:nvSpPr>
          <p:cNvPr id="31" name="card3_num"/>
          <p:cNvSpPr/>
          <p:nvPr/>
        </p:nvSpPr>
        <p:spPr>
          <a:xfrm>
            <a:off x="6102350" y="1554480"/>
            <a:ext cx="548640" cy="548640"/>
          </a:xfrm>
          <a:prstGeom prst="rect">
            <a:avLst/>
          </a:prstGeom>
          <a:solidFill>
            <a:srgbClr val="6B3FA0"/>
          </a:solidFill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2000" b="1" dirty="0">
                <a:solidFill>
                  <a:srgbClr val="FFFFFF"/>
                </a:solidFill>
                <a:latin typeface="Georgia" pitchFamily="34" charset="0"/>
              </a:rPr>
              <a:t>3</a:t>
            </a:r>
          </a:p>
        </p:txBody>
      </p:sp>
      <p:sp>
        <p:nvSpPr>
          <p:cNvPr id="32" name="card3_text"/>
          <p:cNvSpPr/>
          <p:nvPr/>
        </p:nvSpPr>
        <p:spPr>
          <a:xfrm>
            <a:off x="6193790" y="2148840"/>
            <a:ext cx="2560320" cy="1924050"/>
          </a:xfrm>
          <a:prstGeom prst="rect">
            <a:avLst/>
          </a:prstGeom>
          <a:noFill/>
          <a:ln/>
        </p:spPr>
        <p:txBody>
          <a:bodyPr wrap="square" lIns="91440" tIns="0" rtlCol="0" anchor="t"/>
          <a:lstStyle/>
          <a:p>
            <a:pPr marL="0" indent="0">
              <a:buNone/>
            </a:pPr>
            <a:r>
              <a:rPr lang="es-ES" sz="1300" b="1" dirty="0">
                <a:solidFill>
                  <a:srgbClr val="3D1F6D"/>
                </a:solidFill>
                <a:latin typeface="Georgia" pitchFamily="34" charset="0"/>
              </a:rPr>
              <a:t>Simulaciones comparativas</a:t>
            </a:r>
          </a:p>
          <a:p>
            <a:pPr marL="0" indent="0">
              <a:buNone/>
            </a:pPr>
            <a:endParaRPr lang="es-ES" sz="900" dirty="0"/>
          </a:p>
          <a:p>
            <a:pPr marL="0" indent="0">
              <a:buNone/>
            </a:pPr>
            <a:r>
              <a:rPr lang="es-ES" sz="1050" dirty="0">
                <a:solidFill>
                  <a:srgbClr val="444444"/>
                </a:solidFill>
                <a:latin typeface="Calibri" pitchFamily="34" charset="0"/>
              </a:rPr>
              <a:t>Replican figuras del artículo original:</a:t>
            </a:r>
          </a:p>
          <a:p>
            <a:pPr marL="0" indent="0">
              <a:buNone/>
            </a:pPr>
            <a:endParaRPr lang="es-ES" sz="900" dirty="0"/>
          </a:p>
          <a:p>
            <a:pPr marL="0" indent="0">
              <a:buNone/>
            </a:pPr>
            <a:r>
              <a:rPr lang="es-ES" sz="1000" dirty="0">
                <a:solidFill>
                  <a:srgbClr val="555555"/>
                </a:solidFill>
                <a:latin typeface="Calibri" pitchFamily="34" charset="0"/>
              </a:rPr>
              <a:t>• Raster plot y actividad poblacional</a:t>
            </a:r>
          </a:p>
          <a:p>
            <a:pPr marL="0" indent="0">
              <a:buNone/>
            </a:pPr>
            <a:r>
              <a:rPr lang="es-ES" sz="1000" dirty="0">
                <a:solidFill>
                  <a:srgbClr val="555555"/>
                </a:solidFill>
                <a:latin typeface="Calibri" pitchFamily="34" charset="0"/>
              </a:rPr>
              <a:t>• Convergencia de momentos estadísticos</a:t>
            </a:r>
          </a:p>
          <a:p>
            <a:pPr marL="0" indent="0">
              <a:buNone/>
            </a:pPr>
            <a:r>
              <a:rPr lang="es-ES" sz="1000" dirty="0">
                <a:solidFill>
                  <a:srgbClr val="555555"/>
                </a:solidFill>
                <a:latin typeface="Calibri" pitchFamily="34" charset="0"/>
              </a:rPr>
              <a:t>• Oscilaciones gamma emergentes</a:t>
            </a:r>
          </a:p>
          <a:p>
            <a:pPr marL="0" indent="0">
              <a:buNone/>
            </a:pPr>
            <a:r>
              <a:rPr lang="es-ES" sz="1000" dirty="0">
                <a:solidFill>
                  <a:srgbClr val="555555"/>
                </a:solidFill>
                <a:latin typeface="Calibri" pitchFamily="34" charset="0"/>
              </a:rPr>
              <a:t>• Variabilidad modulada por contraste</a:t>
            </a:r>
          </a:p>
          <a:p>
            <a:pPr marL="0" indent="0">
              <a:buNone/>
            </a:pPr>
            <a:r>
              <a:rPr lang="es-ES" sz="1000" dirty="0">
                <a:solidFill>
                  <a:srgbClr val="555555"/>
                </a:solidFill>
                <a:latin typeface="Calibri" pitchFamily="34" charset="0"/>
              </a:rPr>
              <a:t>• Transitorios inhibitorios al inicio</a:t>
            </a:r>
          </a:p>
        </p:txBody>
      </p:sp>
    </p:spTree>
    <p:extLst>
      <p:ext uri="{BB962C8B-B14F-4D97-AF65-F5344CB8AC3E}">
        <p14:creationId xmlns:p14="http://schemas.microsoft.com/office/powerpoint/2010/main" val="4048065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1F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Equivalencia numérica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200400" cy="2743200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0302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~10⁻¹⁵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0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máximo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D0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funciones · 10.000 muestras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931920" y="914400"/>
            <a:ext cx="2331720" cy="548640"/>
          </a:xfrm>
          <a:prstGeom prst="rect">
            <a:avLst/>
          </a:prstGeom>
          <a:solidFill>
            <a:srgbClr val="EDE5F7"/>
          </a:solidFill>
          <a:ln/>
        </p:spPr>
      </p:sp>
      <p:sp>
        <p:nvSpPr>
          <p:cNvPr id="8" name="Text 6"/>
          <p:cNvSpPr/>
          <p:nvPr/>
        </p:nvSpPr>
        <p:spPr>
          <a:xfrm>
            <a:off x="4023360" y="91440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1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Normal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023360" y="1188720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0.00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46520" y="914400"/>
            <a:ext cx="2331720" cy="548640"/>
          </a:xfrm>
          <a:prstGeom prst="rect">
            <a:avLst/>
          </a:prstGeom>
          <a:solidFill>
            <a:srgbClr val="EDE5F7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91440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1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Activación Neuronal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37960" y="1188720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0.00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931920" y="1600200"/>
            <a:ext cx="2331720" cy="548640"/>
          </a:xfrm>
          <a:prstGeom prst="rect">
            <a:avLst/>
          </a:prstGeom>
          <a:solidFill>
            <a:srgbClr val="EDE5F7"/>
          </a:solidFill>
          <a:ln/>
        </p:spPr>
      </p:sp>
      <p:sp>
        <p:nvSpPr>
          <p:cNvPr id="14" name="Text 12"/>
          <p:cNvSpPr/>
          <p:nvPr/>
        </p:nvSpPr>
        <p:spPr>
          <a:xfrm>
            <a:off x="4023360" y="160020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1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Momentos ν, γ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023360" y="1874520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0.00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46520" y="1600200"/>
            <a:ext cx="2331720" cy="548640"/>
          </a:xfrm>
          <a:prstGeom prst="rect">
            <a:avLst/>
          </a:prstGeom>
          <a:solidFill>
            <a:srgbClr val="EDE5F7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160020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1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Temporal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37960" y="1874520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0.00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931920" y="2286000"/>
            <a:ext cx="2331720" cy="548640"/>
          </a:xfrm>
          <a:prstGeom prst="rect">
            <a:avLst/>
          </a:prstGeom>
          <a:solidFill>
            <a:srgbClr val="EDE5F7"/>
          </a:solidFill>
          <a:ln/>
        </p:spPr>
      </p:sp>
      <p:sp>
        <p:nvSpPr>
          <p:cNvPr id="20" name="Text 18"/>
          <p:cNvSpPr/>
          <p:nvPr/>
        </p:nvSpPr>
        <p:spPr>
          <a:xfrm>
            <a:off x="4023360" y="228600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1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Conectividad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023360" y="2560320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0.00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46520" y="2286000"/>
            <a:ext cx="2331720" cy="548640"/>
          </a:xfrm>
          <a:prstGeom prst="rect">
            <a:avLst/>
          </a:prstGeom>
          <a:solidFill>
            <a:srgbClr val="EDE5F7"/>
          </a:solidFill>
          <a:ln/>
        </p:spPr>
      </p:sp>
      <p:sp>
        <p:nvSpPr>
          <p:cNvPr id="23" name="Text 21"/>
          <p:cNvSpPr/>
          <p:nvPr/>
        </p:nvSpPr>
        <p:spPr>
          <a:xfrm>
            <a:off x="6537960" y="228600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1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Ruido O-U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37960" y="2560320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0.00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931920" y="2971800"/>
            <a:ext cx="2331720" cy="548640"/>
          </a:xfrm>
          <a:prstGeom prst="rect">
            <a:avLst/>
          </a:prstGeom>
          <a:solidFill>
            <a:srgbClr val="EDE5F7"/>
          </a:solidFill>
          <a:ln/>
        </p:spPr>
      </p:sp>
      <p:sp>
        <p:nvSpPr>
          <p:cNvPr id="26" name="Text 24"/>
          <p:cNvSpPr/>
          <p:nvPr/>
        </p:nvSpPr>
        <p:spPr>
          <a:xfrm>
            <a:off x="4023360" y="297180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1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 Posterior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023360" y="3246120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0.00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446520" y="2971800"/>
            <a:ext cx="2331720" cy="548640"/>
          </a:xfrm>
          <a:prstGeom prst="rect">
            <a:avLst/>
          </a:prstGeom>
          <a:solidFill>
            <a:srgbClr val="EDE5F7"/>
          </a:solidFill>
          <a:ln/>
        </p:spPr>
      </p:sp>
      <p:sp>
        <p:nvSpPr>
          <p:cNvPr id="29" name="Text 27"/>
          <p:cNvSpPr/>
          <p:nvPr/>
        </p:nvSpPr>
        <p:spPr>
          <a:xfrm>
            <a:off x="6537960" y="297180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1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Auxiliares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537960" y="3246120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0.00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08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"Las dos implementaciones dan exactamente el mismo resultado"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1F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Entrenamiento robusto: 100 corridas</a:t>
            </a:r>
            <a:endParaRPr lang="en-US" sz="2800" dirty="0"/>
          </a:p>
        </p:txBody>
      </p:sp>
      <p:pic>
        <p:nvPicPr>
          <p:cNvPr id="4" name="Image 0" descr="/home/claude/figures/noise_convergenc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822960"/>
            <a:ext cx="8595360" cy="39319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smtClean="0">
                <a:solidFill>
                  <a:srgbClr val="3D1F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FALLAS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46880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smtClean="0">
                <a:solidFill>
                  <a:srgbClr val="3D1F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FALLAS</a:t>
            </a:r>
            <a:endParaRPr lang="en-US" sz="280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615" y="914400"/>
            <a:ext cx="3013673" cy="3880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815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smtClean="0">
                <a:solidFill>
                  <a:srgbClr val="3D1F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FALLAS</a:t>
            </a:r>
            <a:endParaRPr lang="en-US" sz="280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615" y="914400"/>
            <a:ext cx="3013673" cy="3880444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5808" y="182880"/>
            <a:ext cx="4910992" cy="4049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706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smtClean="0">
                <a:solidFill>
                  <a:srgbClr val="3D1F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FALLAS</a:t>
            </a:r>
            <a:endParaRPr lang="en-US" sz="280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615" y="914400"/>
            <a:ext cx="3013673" cy="3880444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5808" y="182880"/>
            <a:ext cx="4910992" cy="4049942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9526" y="1789988"/>
            <a:ext cx="3915930" cy="322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125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smtClean="0">
                <a:solidFill>
                  <a:srgbClr val="3D1F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FALLAS</a:t>
            </a:r>
            <a:endParaRPr lang="en-US" sz="280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615" y="914400"/>
            <a:ext cx="3013673" cy="3880444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5808" y="182880"/>
            <a:ext cx="4910992" cy="4049942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9526" y="1789988"/>
            <a:ext cx="3915930" cy="3229345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1451" y="1339859"/>
            <a:ext cx="2825279" cy="3637865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5936" y="182880"/>
            <a:ext cx="2482975" cy="3197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132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3FA0"/>
          </a:solidFill>
          <a:ln/>
        </p:spPr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0004" y="248664"/>
            <a:ext cx="3689423" cy="4748513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690" y="1835930"/>
            <a:ext cx="3965825" cy="3025520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3D1F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Actividad poblacional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336576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3D1F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Raster plot</a:t>
            </a:r>
            <a:endParaRPr lang="en-US" sz="2800" dirty="0"/>
          </a:p>
        </p:txBody>
      </p:sp>
      <p:pic>
        <p:nvPicPr>
          <p:cNvPr id="4" name="Image 0" descr="/home/claude/figures/population_activit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822960"/>
            <a:ext cx="8595360" cy="39319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1F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Convergencia de momentos</a:t>
            </a:r>
            <a:endParaRPr lang="en-US" sz="2800" dirty="0"/>
          </a:p>
        </p:txBody>
      </p:sp>
      <p:pic>
        <p:nvPicPr>
          <p:cNvPr id="4" name="Image 0" descr="/home/claude/figures/moments_comparis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822960"/>
            <a:ext cx="8595360" cy="39319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nclusiones">
    <p:bg>
      <p:bgPr>
        <a:solidFill>
          <a:srgbClr val="3D1F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" name="botbar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4" name="title"/>
          <p:cNvSpPr/>
          <p:nvPr/>
        </p:nvSpPr>
        <p:spPr>
          <a:xfrm>
            <a:off x="548640" y="182880"/>
            <a:ext cx="8046720" cy="6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s-ES" sz="3200" b="1" dirty="0">
              <a:solidFill>
                <a:srgbClr val="FF0000"/>
              </a:solidFill>
              <a:latin typeface="Georgia" pitchFamily="34" charset="0"/>
            </a:endParaRPr>
          </a:p>
        </p:txBody>
      </p:sp>
      <p:sp>
        <p:nvSpPr>
          <p:cNvPr id="5" name="conclu"/>
          <p:cNvSpPr/>
          <p:nvPr/>
        </p:nvSpPr>
        <p:spPr>
          <a:xfrm>
            <a:off x="548640" y="900000"/>
            <a:ext cx="3900000" cy="3800000"/>
          </a:xfrm>
          <a:prstGeom prst="rect">
            <a:avLst/>
          </a:prstGeom>
          <a:noFill/>
          <a:ln/>
        </p:spPr>
        <p:txBody>
          <a:bodyPr wrap="square" lIns="0" tIns="152400" rtlCol="0" anchor="t"/>
          <a:lstStyle/>
          <a:p>
            <a:r>
              <a:rPr lang="es-ES" sz="1600" b="1" dirty="0">
                <a:solidFill>
                  <a:srgbClr val="FFFFFF"/>
                </a:solidFill>
                <a:latin typeface="Georgia" pitchFamily="34" charset="0"/>
              </a:rPr>
              <a:t>Conclusiones</a:t>
            </a:r>
          </a:p>
          <a:p>
            <a:pPr marL="0" indent="0">
              <a:buNone/>
            </a:pPr>
            <a:endParaRPr lang="es-ES" sz="1200" dirty="0" smtClean="0">
              <a:solidFill>
                <a:srgbClr val="FFFFFF"/>
              </a:solidFill>
              <a:latin typeface="Calibri" pitchFamily="34" charset="0"/>
            </a:endParaRPr>
          </a:p>
          <a:p>
            <a:pPr marL="0" indent="0">
              <a:buNone/>
            </a:pPr>
            <a:r>
              <a:rPr lang="es-ES" sz="1200" dirty="0" smtClean="0">
                <a:solidFill>
                  <a:srgbClr val="FFFFFF"/>
                </a:solidFill>
                <a:latin typeface="Calibri" pitchFamily="34" charset="0"/>
              </a:rPr>
              <a:t>▸ </a:t>
            </a:r>
            <a:r>
              <a:rPr lang="es-ES" sz="1200" dirty="0">
                <a:solidFill>
                  <a:srgbClr val="FFFFFF"/>
                </a:solidFill>
                <a:latin typeface="Calibri" pitchFamily="34" charset="0"/>
              </a:rPr>
              <a:t>Reimplementacion completa </a:t>
            </a:r>
            <a:endParaRPr lang="es-ES" sz="1200" dirty="0" smtClean="0">
              <a:solidFill>
                <a:srgbClr val="FFFFFF"/>
              </a:solidFill>
              <a:latin typeface="Calibri" pitchFamily="34" charset="0"/>
            </a:endParaRPr>
          </a:p>
          <a:p>
            <a:pPr marL="0" indent="0">
              <a:buNone/>
            </a:pPr>
            <a:endParaRPr lang="es-ES" sz="1200" dirty="0">
              <a:solidFill>
                <a:srgbClr val="FFFFFF"/>
              </a:solidFill>
              <a:latin typeface="Calibri" pitchFamily="34" charset="0"/>
            </a:endParaRPr>
          </a:p>
          <a:p>
            <a:pPr marL="0" indent="0">
              <a:buNone/>
            </a:pPr>
            <a:r>
              <a:rPr lang="es-ES" sz="1200" dirty="0" smtClean="0">
                <a:solidFill>
                  <a:srgbClr val="FFFFFF"/>
                </a:solidFill>
                <a:latin typeface="Calibri" pitchFamily="34" charset="0"/>
              </a:rPr>
              <a:t>	Python/</a:t>
            </a:r>
            <a:r>
              <a:rPr lang="es-ES" sz="1200" dirty="0" err="1" smtClean="0">
                <a:solidFill>
                  <a:srgbClr val="FFFFFF"/>
                </a:solidFill>
                <a:latin typeface="Calibri" pitchFamily="34" charset="0"/>
              </a:rPr>
              <a:t>OCaml</a:t>
            </a:r>
            <a:r>
              <a:rPr lang="es-ES" sz="1200" dirty="0" smtClean="0">
                <a:solidFill>
                  <a:srgbClr val="FFFFFF"/>
                </a:solidFill>
                <a:latin typeface="Calibri" pitchFamily="34" charset="0"/>
              </a:rPr>
              <a:t> </a:t>
            </a:r>
            <a:r>
              <a:rPr lang="es-ES" sz="1200" dirty="0">
                <a:solidFill>
                  <a:srgbClr val="FFFFFF"/>
                </a:solidFill>
                <a:latin typeface="Calibri" pitchFamily="34" charset="0"/>
              </a:rPr>
              <a:t>→ Python/JAX</a:t>
            </a:r>
          </a:p>
          <a:p>
            <a:pPr marL="0" indent="0">
              <a:buNone/>
            </a:pPr>
            <a:endParaRPr lang="es-ES" sz="1100" dirty="0"/>
          </a:p>
          <a:p>
            <a:pPr marL="0" indent="0">
              <a:buNone/>
            </a:pPr>
            <a:r>
              <a:rPr lang="es-ES" sz="1200" dirty="0">
                <a:solidFill>
                  <a:srgbClr val="FFFFFF"/>
                </a:solidFill>
                <a:latin typeface="Calibri" pitchFamily="34" charset="0"/>
              </a:rPr>
              <a:t>▸ Equivalencia numerica (~10⁻¹⁵)</a:t>
            </a:r>
          </a:p>
          <a:p>
            <a:pPr marL="0" indent="0">
              <a:buNone/>
            </a:pPr>
            <a:endParaRPr lang="es-ES" sz="1100" dirty="0"/>
          </a:p>
          <a:p>
            <a:pPr marL="0" indent="0">
              <a:buNone/>
            </a:pPr>
            <a:r>
              <a:rPr lang="es-ES" sz="1200" dirty="0">
                <a:solidFill>
                  <a:srgbClr val="FFFFFF"/>
                </a:solidFill>
                <a:latin typeface="Calibri" pitchFamily="34" charset="0"/>
              </a:rPr>
              <a:t>▸ 10.000 corridas confirman robustez</a:t>
            </a:r>
          </a:p>
          <a:p>
            <a:pPr marL="0" indent="0">
              <a:buNone/>
            </a:pPr>
            <a:endParaRPr lang="es-ES" sz="1100" dirty="0"/>
          </a:p>
          <a:p>
            <a:pPr marL="0" indent="0">
              <a:buNone/>
            </a:pPr>
            <a:r>
              <a:rPr lang="es-ES" sz="1200" dirty="0">
                <a:solidFill>
                  <a:srgbClr val="FFFFFF"/>
                </a:solidFill>
                <a:latin typeface="Calibri" pitchFamily="34" charset="0"/>
              </a:rPr>
              <a:t>▸ Propiedades emergentes reproducidas</a:t>
            </a:r>
          </a:p>
        </p:txBody>
      </p:sp>
      <p:sp>
        <p:nvSpPr>
          <p:cNvPr id="6" name="futuro"/>
          <p:cNvSpPr/>
          <p:nvPr/>
        </p:nvSpPr>
        <p:spPr>
          <a:xfrm>
            <a:off x="4700000" y="900000"/>
            <a:ext cx="3900000" cy="3800000"/>
          </a:xfrm>
          <a:prstGeom prst="rect">
            <a:avLst/>
          </a:prstGeom>
          <a:solidFill>
            <a:srgbClr val="6B3FA0"/>
          </a:solidFill>
          <a:ln>
            <a:noFill/>
          </a:ln>
        </p:spPr>
        <p:txBody>
          <a:bodyPr wrap="square" lIns="228600" tIns="228600" rIns="228600" rtlCol="0" anchor="t"/>
          <a:lstStyle/>
          <a:p>
            <a:pPr marL="0" indent="0">
              <a:buNone/>
            </a:pPr>
            <a:r>
              <a:rPr lang="es-ES" sz="1600" b="1" dirty="0">
                <a:solidFill>
                  <a:srgbClr val="FFFFFF"/>
                </a:solidFill>
                <a:latin typeface="Georgia" pitchFamily="34" charset="0"/>
              </a:rPr>
              <a:t>Trabajo futuro</a:t>
            </a:r>
          </a:p>
          <a:p>
            <a:pPr marL="0" indent="0">
              <a:buNone/>
            </a:pPr>
            <a:endParaRPr lang="es-ES" sz="1100" dirty="0"/>
          </a:p>
          <a:p>
            <a:pPr marL="0" indent="0">
              <a:buNone/>
            </a:pPr>
            <a:r>
              <a:rPr lang="es-ES" sz="1200" dirty="0">
                <a:solidFill>
                  <a:srgbClr val="C084D8"/>
                </a:solidFill>
                <a:latin typeface="Calibri" pitchFamily="34" charset="0"/>
              </a:rPr>
              <a:t>Fusionar Cuppini + Echeveste</a:t>
            </a:r>
          </a:p>
          <a:p>
            <a:pPr marL="0" indent="0">
              <a:buNone/>
            </a:pPr>
            <a:endParaRPr lang="es-ES" sz="1100" dirty="0"/>
          </a:p>
          <a:p>
            <a:pPr marL="0" indent="0">
              <a:buNone/>
            </a:pPr>
            <a:r>
              <a:rPr lang="es-ES" sz="1200" dirty="0">
                <a:solidFill>
                  <a:srgbClr val="C084D8"/>
                </a:solidFill>
                <a:latin typeface="Calibri" pitchFamily="34" charset="0"/>
              </a:rPr>
              <a:t>Redes de control</a:t>
            </a:r>
          </a:p>
          <a:p>
            <a:pPr marL="0" indent="0">
              <a:buNone/>
            </a:pPr>
            <a:endParaRPr lang="es-ES" sz="1100" dirty="0"/>
          </a:p>
          <a:p>
            <a:pPr marL="0" indent="0">
              <a:buNone/>
            </a:pPr>
            <a:r>
              <a:rPr lang="es-ES" sz="1200" dirty="0">
                <a:solidFill>
                  <a:srgbClr val="C084D8"/>
                </a:solidFill>
                <a:latin typeface="Calibri" pitchFamily="34" charset="0"/>
              </a:rPr>
              <a:t>Datos electrofisiologicos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racias">
    <p:bg>
      <p:bgPr>
        <a:solidFill>
          <a:srgbClr val="3D1F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" name="botbar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4" name="gracias"/>
          <p:cNvSpPr/>
          <p:nvPr/>
        </p:nvSpPr>
        <p:spPr>
          <a:xfrm>
            <a:off x="548640" y="1400000"/>
            <a:ext cx="8046720" cy="15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6000" b="1" dirty="0">
                <a:solidFill>
                  <a:srgbClr val="FFFFFF"/>
                </a:solidFill>
                <a:latin typeface="Georgia" pitchFamily="34" charset="0"/>
              </a:rPr>
              <a:t>¡Gracias!</a:t>
            </a:r>
          </a:p>
        </p:txBody>
      </p:sp>
      <p:sp>
        <p:nvSpPr>
          <p:cNvPr id="5" name="name"/>
          <p:cNvSpPr/>
          <p:nvPr/>
        </p:nvSpPr>
        <p:spPr>
          <a:xfrm>
            <a:off x="548640" y="2941036"/>
            <a:ext cx="8046720" cy="8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1600" dirty="0">
                <a:solidFill>
                  <a:srgbClr val="C084D8"/>
                </a:solidFill>
                <a:latin typeface="Calibri" pitchFamily="34" charset="0"/>
              </a:rPr>
              <a:t>Franco Molina · </a:t>
            </a:r>
            <a:r>
              <a:rPr lang="es-ES" sz="1600" dirty="0" smtClean="0">
                <a:solidFill>
                  <a:srgbClr val="C084D8"/>
                </a:solidFill>
                <a:latin typeface="Calibri" pitchFamily="34" charset="0"/>
              </a:rPr>
              <a:t>FAMAF </a:t>
            </a:r>
            <a:r>
              <a:rPr lang="es-ES" sz="1600" dirty="0">
                <a:solidFill>
                  <a:srgbClr val="C084D8"/>
                </a:solidFill>
                <a:latin typeface="Calibri" pitchFamily="34" charset="0"/>
              </a:rPr>
              <a:t>· Universidad Nacional de Cordoba</a:t>
            </a:r>
          </a:p>
          <a:p>
            <a:pPr marL="0" indent="0" algn="ctr">
              <a:buNone/>
            </a:pPr>
            <a:r>
              <a:rPr lang="es-ES" sz="1200" dirty="0">
                <a:solidFill>
                  <a:srgbClr val="C084D8"/>
                </a:solidFill>
                <a:latin typeface="Calibri" pitchFamily="34" charset="0"/>
              </a:rPr>
              <a:t>Directores: Renato Paredes Venero · Juan Bautista Cabral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3453</TotalTime>
  <Words>3031</Words>
  <Application>Microsoft Office PowerPoint</Application>
  <PresentationFormat>Presentación en pantalla (16:9)</PresentationFormat>
  <Paragraphs>565</Paragraphs>
  <Slides>41</Slides>
  <Notes>38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41</vt:i4>
      </vt:variant>
    </vt:vector>
  </HeadingPairs>
  <TitlesOfParts>
    <vt:vector size="46" baseType="lpstr">
      <vt:lpstr>Arial</vt:lpstr>
      <vt:lpstr>Calibri</vt:lpstr>
      <vt:lpstr>Consolas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Msi GF65</cp:lastModifiedBy>
  <cp:revision>46</cp:revision>
  <dcterms:created xsi:type="dcterms:W3CDTF">2026-03-04T19:39:35Z</dcterms:created>
  <dcterms:modified xsi:type="dcterms:W3CDTF">2026-03-17T16:30:15Z</dcterms:modified>
</cp:coreProperties>
</file>