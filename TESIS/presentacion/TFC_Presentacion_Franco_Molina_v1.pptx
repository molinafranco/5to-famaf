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6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4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3FA0"/>
    <a:srgbClr val="9503BD"/>
    <a:srgbClr val="C08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96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11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6B3FA0"/>
          </a:solidFill>
          <a:ln/>
        </p:spPr>
      </p:sp>
      <p:pic>
        <p:nvPicPr>
          <p:cNvPr id="4" name="Image 0" descr="/home/claude/img_user/thomas_willis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468587" y="910303"/>
            <a:ext cx="3200400" cy="32004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 de un </a:t>
            </a:r>
            <a:r>
              <a:rPr lang="en-US" sz="2600" b="1" dirty="0" err="1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</a:t>
            </a:r>
            <a:r>
              <a:rPr lang="en-US" sz="26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neuronal</a:t>
            </a:r>
            <a:r>
              <a:rPr lang="en-US" sz="2600" dirty="0"/>
              <a:t> </a:t>
            </a:r>
            <a:r>
              <a:rPr lang="en-US" sz="26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</a:t>
            </a:r>
            <a:r>
              <a:rPr lang="en-US" sz="2600" b="1" dirty="0" err="1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</a:t>
            </a: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smtClean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multisensorial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Inferencia probabilística con dinámicas </a:t>
            </a:r>
            <a:endParaRPr lang="en-US" sz="1400" i="1" dirty="0" smtClean="0">
              <a:solidFill>
                <a:srgbClr val="6B3FA0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buNone/>
            </a:pPr>
            <a:r>
              <a:rPr lang="en-US" sz="1400" i="1" dirty="0" err="1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corticales</a:t>
            </a:r>
            <a:r>
              <a:rPr lang="en-US" sz="1400" i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i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Molina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Directores: Renato Paredes Venero · Juan Bautista Cabral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FaMAF — Universidad Nacional de Córdoba</a:t>
            </a:r>
            <a:endParaRPr lang="en-US" sz="1100" dirty="0"/>
          </a:p>
        </p:txBody>
      </p:sp>
      <p:pic>
        <p:nvPicPr>
          <p:cNvPr id="9" name="Image 1" descr="/home/claude/img_user/logo_u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447" y="4406933"/>
            <a:ext cx="164592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37211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37211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pic>
        <p:nvPicPr>
          <p:cNvPr id="6" name="Image 0" descr="/home/claude/img_user/neuron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11531"/>
            <a:ext cx="205740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803171"/>
            <a:ext cx="457200" cy="36576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894611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cerebro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260371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combina información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múltiples sentidos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837211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37211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pic>
        <p:nvPicPr>
          <p:cNvPr id="12" name="Image 1" descr="/home/claude/img_user/arquiech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20440" y="1111531"/>
            <a:ext cx="2057400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803171"/>
            <a:ext cx="457200" cy="36576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4" name="Text 10"/>
          <p:cNvSpPr/>
          <p:nvPr/>
        </p:nvSpPr>
        <p:spPr>
          <a:xfrm>
            <a:off x="3429000" y="2894611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modelos</a:t>
            </a:r>
            <a:endParaRPr lang="en-US" sz="1600" dirty="0">
              <a:solidFill>
                <a:srgbClr val="6B3FA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9000" y="3260371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Simulaciones computacionales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imitan circuitos neuronales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837211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37211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pic>
        <p:nvPicPr>
          <p:cNvPr id="18" name="Image 2" descr="/home/claude/figures/neuromsi_arch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0" y="1111531"/>
            <a:ext cx="2057400" cy="1554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09360" y="2803171"/>
            <a:ext cx="457200" cy="36576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0" name="Text 15"/>
          <p:cNvSpPr/>
          <p:nvPr/>
        </p:nvSpPr>
        <p:spPr>
          <a:xfrm>
            <a:off x="6309360" y="2894611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software</a:t>
            </a:r>
            <a:endParaRPr lang="en-US" sz="1600" dirty="0">
              <a:solidFill>
                <a:srgbClr val="6B3FA0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09360" y="3260371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Python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Scikit-NeuroMSI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corazón al cerebro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cerebro es solo un radiador" — Aristóteles (parafraseado)</a:t>
            </a:r>
            <a:endParaRPr lang="en-US" sz="1000" dirty="0"/>
          </a:p>
        </p:txBody>
      </p:sp>
      <p:pic>
        <p:nvPicPr>
          <p:cNvPr id="5" name="Image 0" descr="/home/claude/figures/timeline_hi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8595360" cy="2103120"/>
          </a:xfrm>
          <a:prstGeom prst="rect">
            <a:avLst/>
          </a:prstGeom>
        </p:spPr>
      </p:pic>
      <p:pic>
        <p:nvPicPr>
          <p:cNvPr id="6" name="Image 1" descr="/home/claude/img_user/thomas_willi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383280"/>
            <a:ext cx="164592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0" y="3520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Willis (1664)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ilustraciones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detalladas del cerebro</a:t>
            </a:r>
            <a:endParaRPr lang="en-US" sz="1000" dirty="0"/>
          </a:p>
        </p:txBody>
      </p:sp>
      <p:pic>
        <p:nvPicPr>
          <p:cNvPr id="8" name="Image 2" descr="/home/claude/img_user/CajalCerebellum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9200" y="3383280"/>
            <a:ext cx="164592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0" y="3520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Ramón y Cajal (1906)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Doctrina de la neurona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Nobel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neurona</a:t>
            </a:r>
            <a:endParaRPr lang="en-US" sz="2800" dirty="0"/>
          </a:p>
        </p:txBody>
      </p:sp>
      <p:pic>
        <p:nvPicPr>
          <p:cNvPr id="4" name="Image 0" descr="/home/claude/img_user/neuron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0584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100584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celular, núcleo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178308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78308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Dendritas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señales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56032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56032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Axón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69280" y="2880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señales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333756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337560"/>
            <a:ext cx="54864" cy="6400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Sinapsis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neurotransmisores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reposo: −70 mV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Canales iónicos y potencial de acción</a:t>
            </a:r>
            <a:endParaRPr lang="en-US" sz="2800" dirty="0"/>
          </a:p>
        </p:txBody>
      </p:sp>
      <p:pic>
        <p:nvPicPr>
          <p:cNvPr id="4" name="Image 0" descr="/home/claude/img_user/canal-ionic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18161"/>
            <a:ext cx="41148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7030A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Principio de "todo o nada"</a:t>
            </a:r>
          </a:p>
        </p:txBody>
      </p:sp>
      <p:sp>
        <p:nvSpPr>
          <p:cNvPr id="7" name="Text 4"/>
          <p:cNvSpPr/>
          <p:nvPr/>
        </p:nvSpPr>
        <p:spPr>
          <a:xfrm>
            <a:off x="493776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intensidad se codifica en frecuencia de disparo, no en amplitud.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Na⁺ → despolarización rápida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K⁺ → repolarización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EDE5F7"/>
          </a:solidFill>
          <a:ln/>
          <a:effectLst/>
        </p:spPr>
      </p:sp>
      <p:sp>
        <p:nvSpPr>
          <p:cNvPr id="9" name="Text 6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Hodgkin-Huxley (1952)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dV/dt = −ḡNa m³h(V−ENa) − ḡK n⁴(V−EK) − gL(V−EL) + Iext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Axón gigante del calamar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Nobel 1963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veces la biología te da regalos"</a:t>
            </a:r>
            <a:endParaRPr lang="en-US" sz="1000" dirty="0"/>
          </a:p>
        </p:txBody>
      </p:sp>
      <p:sp>
        <p:nvSpPr>
          <p:cNvPr id="12" name="Shape 3"/>
          <p:cNvSpPr/>
          <p:nvPr/>
        </p:nvSpPr>
        <p:spPr>
          <a:xfrm>
            <a:off x="4754880" y="904240"/>
            <a:ext cx="4023360" cy="45720"/>
          </a:xfrm>
          <a:prstGeom prst="rect">
            <a:avLst/>
          </a:prstGeom>
          <a:solidFill>
            <a:srgbClr val="6B3F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neuronas: del detalle a la abstracción</a:t>
            </a:r>
            <a:endParaRPr lang="en-US" sz="2600" dirty="0"/>
          </a:p>
        </p:txBody>
      </p:sp>
      <p:pic>
        <p:nvPicPr>
          <p:cNvPr id="5" name="Image 1" descr="/home/claude/img_user/integrate_fi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108960"/>
            <a:ext cx="36576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0" y="31089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754880" y="33147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Nuestro modelo (Echeveste)</a:t>
            </a:r>
            <a:endParaRPr lang="en-US" sz="1300" dirty="0">
              <a:solidFill>
                <a:srgbClr val="7030A0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475488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potenciales de membrana como variables dinámicas, pero sin mecanismo de disparo explícito. Tasa de disparo como transformación continua supralineal.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mejor de ambos mundos.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4572000" y="3108959"/>
            <a:ext cx="4114800" cy="52071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0" name="TextBox 9"/>
          <p:cNvSpPr txBox="1"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3FA0"/>
                </a:solidFill>
                <a:latin typeface="Calibri"/>
              </a:rPr>
              <a:t>← Más detalle biofísico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C084D8"/>
                </a:solidFill>
                <a:latin typeface="Calibri"/>
              </a:rPr>
              <a:t>Más tratable computacionalmente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19072"/>
            <a:ext cx="768096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325880"/>
            <a:ext cx="1828800" cy="914400"/>
          </a:xfrm>
          <a:prstGeom prst="rect">
            <a:avLst/>
          </a:prstGeom>
          <a:solidFill>
            <a:srgbClr val="3D1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Hodgkin-
Huxley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6A"/>
                </a:solidFill>
                <a:latin typeface="Calibri"/>
              </a:rPr>
              <a:t>Máximo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325880"/>
            <a:ext cx="1828800" cy="9144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Georgia"/>
              </a:rPr>
              <a:t>Integra-y-
Dispara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6A"/>
                </a:solidFill>
                <a:latin typeface="Calibri"/>
              </a:rPr>
              <a:t>Alto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25880"/>
            <a:ext cx="1828800" cy="914400"/>
          </a:xfrm>
          <a:prstGeom prst="rect">
            <a:avLst/>
          </a:prstGeom>
          <a:solidFill>
            <a:srgbClr val="E84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Georgia"/>
              </a:rPr>
              <a:t>Echeveste
(SSN)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6A"/>
                </a:solidFill>
                <a:latin typeface="Calibri"/>
              </a:rPr>
              <a:t>Intermedio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325880"/>
            <a:ext cx="1828800" cy="914400"/>
          </a:xfrm>
          <a:prstGeom prst="rect">
            <a:avLst/>
          </a:prstGeom>
          <a:solidFill>
            <a:srgbClr val="D0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D1F6D"/>
                </a:solidFill>
                <a:latin typeface="Georgia"/>
              </a:rPr>
              <a:t>Modelos
de tasa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5A6A"/>
                </a:solidFill>
                <a:latin typeface="Calibri"/>
              </a:rPr>
              <a:t>Mínimo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691640"/>
            <a:ext cx="182880" cy="10972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1691640"/>
            <a:ext cx="182880" cy="10972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37960" y="1691640"/>
            <a:ext cx="182880" cy="10972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395448" y="538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visual</a:t>
            </a:r>
            <a:endParaRPr lang="en-US" sz="2800" dirty="0"/>
          </a:p>
        </p:txBody>
      </p:sp>
      <p:pic>
        <p:nvPicPr>
          <p:cNvPr id="4" name="Image 0" descr="/home/claude/img_user/v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1109980"/>
            <a:ext cx="39319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2024" y="1292860"/>
            <a:ext cx="4389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49184" y="143002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" name="Text 4"/>
          <p:cNvSpPr/>
          <p:nvPr/>
        </p:nvSpPr>
        <p:spPr>
          <a:xfrm>
            <a:off x="449184" y="1430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3544" y="13385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Retina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3544" y="16586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Fotorreceptores → células ganglionares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2024" y="2298700"/>
            <a:ext cx="4389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184" y="243586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2" name="Text 9"/>
          <p:cNvSpPr/>
          <p:nvPr/>
        </p:nvSpPr>
        <p:spPr>
          <a:xfrm>
            <a:off x="449184" y="2435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3544" y="23444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LGN (tálamo)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43544" y="26644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Relevo y modulación cortical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2024" y="3304540"/>
            <a:ext cx="4389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9184" y="34417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7" name="Text 14"/>
          <p:cNvSpPr/>
          <p:nvPr/>
        </p:nvSpPr>
        <p:spPr>
          <a:xfrm>
            <a:off x="449184" y="3441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43544" y="33502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(corteza)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43544" y="36703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Selectividad a orientación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5448" y="42646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Hubel &amp; Wiesel — Nobel 1981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V1: Hipercolumnas y selectividad</a:t>
            </a:r>
            <a:endParaRPr lang="en-US" sz="2800" dirty="0"/>
          </a:p>
        </p:txBody>
      </p:sp>
      <p:pic>
        <p:nvPicPr>
          <p:cNvPr id="4" name="Image 0" descr="/home/claude/img_user/tuning-curb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5720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00584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12877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Hipercolumna (~1 mm²)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12080" y="14630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columnas para todas las orientaciones posibles (−90° a 90°) y ambos ojos.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neurona tiene una orientación preferida y responde selectivamente a bordes en esa dirección.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Echeveste simula exactamente una hipercolumna.</a:t>
            </a:r>
            <a:endParaRPr lang="en-US" sz="1000" dirty="0"/>
          </a:p>
        </p:txBody>
      </p:sp>
      <p:pic>
        <p:nvPicPr>
          <p:cNvPr id="8" name="Image 1" descr="/home/claude/img_user/gabor-bank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749040"/>
            <a:ext cx="4114800" cy="1188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0" y="3749040"/>
            <a:ext cx="3840480" cy="118872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0" name="Text 6"/>
          <p:cNvSpPr/>
          <p:nvPr/>
        </p:nvSpPr>
        <p:spPr>
          <a:xfrm>
            <a:off x="52120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 de Gabor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212080" y="4160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Modelan los campos receptivos de V1.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naturaleza llegó primero a la misma solución que las CNNs.</a:t>
            </a:r>
            <a:endParaRPr lang="en-US" sz="1000" dirty="0"/>
          </a:p>
        </p:txBody>
      </p:sp>
      <p:sp>
        <p:nvSpPr>
          <p:cNvPr id="12" name="Shape 3"/>
          <p:cNvSpPr/>
          <p:nvPr/>
        </p:nvSpPr>
        <p:spPr>
          <a:xfrm>
            <a:off x="5029200" y="1005840"/>
            <a:ext cx="3840480" cy="45719"/>
          </a:xfrm>
          <a:prstGeom prst="rect">
            <a:avLst/>
          </a:prstGeom>
          <a:solidFill>
            <a:srgbClr val="6B3F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multisensorial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 espacial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cercanos → potenciación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06040" cy="54864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51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 temporal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simultáneos → integración máxima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606040" cy="54864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51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Efectividad inversa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débiles → mayor beneficio</a:t>
            </a:r>
            <a:endParaRPr lang="en-US" sz="1100" dirty="0"/>
          </a:p>
        </p:txBody>
      </p:sp>
      <p:pic>
        <p:nvPicPr>
          <p:cNvPr id="16" name="Image 0" descr="/home/claude/img_user/ventrilocu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560320"/>
            <a:ext cx="4114800" cy="2286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846320" y="2560320"/>
            <a:ext cx="3931920" cy="228600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28575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efecto ventrílocuo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029200" y="30175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"captura" la localización del sonido. Su cerebro hace inferencia bayesiana en tiempo real.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disparidad es grande, el cerebro separa las fuentes → inferencia causal.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percepción como inferencia bayesiana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310896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Hipótesis del muestreo neuronal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neuronal fluctuante genera muestras de la distribución posterior.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variabilidad NO es ruido: codifica incertidumbre.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1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⟨y(t)⟩_t  ≈  E_P(y|x)[y]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3840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temporal de la actividad ≈ Media de la posterior bayesiana</a:t>
            </a:r>
            <a:endParaRPr lang="en-US" sz="1000" dirty="0"/>
          </a:p>
        </p:txBody>
      </p:sp>
      <p:sp>
        <p:nvSpPr>
          <p:cNvPr id="11" name="Rectangle 10"/>
          <p:cNvSpPr/>
          <p:nvPr/>
        </p:nvSpPr>
        <p:spPr>
          <a:xfrm>
            <a:off x="365760" y="1003300"/>
            <a:ext cx="2377440" cy="1371600"/>
          </a:xfrm>
          <a:prstGeom prst="rect">
            <a:avLst/>
          </a:prstGeom>
          <a:solidFill>
            <a:srgbClr val="EDE5F7"/>
          </a:solidFill>
          <a:ln w="25400">
            <a:solidFill>
              <a:srgbClr val="3D1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3D1F6D"/>
                </a:solidFill>
                <a:latin typeface="Georgia"/>
              </a:rPr>
              <a:t>P(y|x)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383280" y="1003300"/>
            <a:ext cx="2377440" cy="1371600"/>
          </a:xfrm>
          <a:prstGeom prst="rect">
            <a:avLst/>
          </a:prstGeom>
          <a:solidFill>
            <a:srgbClr val="FCE4EC"/>
          </a:solidFill>
          <a:ln w="25400">
            <a:solidFill>
              <a:srgbClr val="E84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E8428C"/>
                </a:solidFill>
                <a:latin typeface="Georgia"/>
              </a:rPr>
              <a:t>P(x|y)</a:t>
            </a:r>
          </a:p>
        </p:txBody>
      </p:sp>
      <p:sp>
        <p:nvSpPr>
          <p:cNvPr id="13" name="Rectangle 14"/>
          <p:cNvSpPr/>
          <p:nvPr/>
        </p:nvSpPr>
        <p:spPr>
          <a:xfrm>
            <a:off x="6400800" y="1003300"/>
            <a:ext cx="2377440" cy="1371600"/>
          </a:xfrm>
          <a:prstGeom prst="rect">
            <a:avLst/>
          </a:prstGeom>
          <a:solidFill>
            <a:srgbClr val="F0E0F5"/>
          </a:solidFill>
          <a:ln w="25400">
            <a:solidFill>
              <a:srgbClr val="C08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C084D8"/>
                </a:solidFill>
                <a:latin typeface="Georgia"/>
              </a:rPr>
              <a:t>P(y)</a:t>
            </a:r>
          </a:p>
        </p:txBody>
      </p:sp>
      <p:sp>
        <p:nvSpPr>
          <p:cNvPr id="14" name="TextBox 16"/>
          <p:cNvSpPr txBox="1"/>
          <p:nvPr/>
        </p:nvSpPr>
        <p:spPr>
          <a:xfrm>
            <a:off x="2788920" y="13233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2E"/>
                </a:solidFill>
                <a:latin typeface="Georgia"/>
              </a:rPr>
              <a:t>∝</a:t>
            </a:r>
          </a:p>
        </p:txBody>
      </p:sp>
      <p:sp>
        <p:nvSpPr>
          <p:cNvPr id="15" name="TextBox 17"/>
          <p:cNvSpPr txBox="1"/>
          <p:nvPr/>
        </p:nvSpPr>
        <p:spPr>
          <a:xfrm>
            <a:off x="5806440" y="13233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2E"/>
                </a:solidFill>
                <a:latin typeface="Georgia"/>
              </a:rPr>
              <a:t>×</a:t>
            </a:r>
          </a:p>
        </p:txBody>
      </p:sp>
      <p:sp>
        <p:nvSpPr>
          <p:cNvPr id="16" name="TextBox 11"/>
          <p:cNvSpPr txBox="1"/>
          <p:nvPr/>
        </p:nvSpPr>
        <p:spPr>
          <a:xfrm>
            <a:off x="36576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A5A6A"/>
                </a:solidFill>
                <a:latin typeface="Consolas"/>
              </a:rPr>
              <a:t>Posterior
¿</a:t>
            </a:r>
            <a:r>
              <a:rPr sz="1100" b="0" i="0" dirty="0" err="1">
                <a:solidFill>
                  <a:srgbClr val="5A5A6A"/>
                </a:solidFill>
                <a:latin typeface="Consolas"/>
              </a:rPr>
              <a:t>Qué</a:t>
            </a:r>
            <a:r>
              <a:rPr sz="1100" b="0" i="0" dirty="0">
                <a:solidFill>
                  <a:srgbClr val="5A5A6A"/>
                </a:solidFill>
                <a:latin typeface="Consolas"/>
              </a:rPr>
              <a:t> hay </a:t>
            </a:r>
            <a:r>
              <a:rPr sz="1100" b="0" i="0" dirty="0" err="1">
                <a:solidFill>
                  <a:srgbClr val="5A5A6A"/>
                </a:solidFill>
                <a:latin typeface="Consolas"/>
              </a:rPr>
              <a:t>ahí</a:t>
            </a:r>
            <a:r>
              <a:rPr sz="1100" b="0" i="0" dirty="0">
                <a:solidFill>
                  <a:srgbClr val="5A5A6A"/>
                </a:solidFill>
                <a:latin typeface="Consolas"/>
              </a:rPr>
              <a:t>?</a:t>
            </a:r>
          </a:p>
        </p:txBody>
      </p:sp>
      <p:sp>
        <p:nvSpPr>
          <p:cNvPr id="17" name="TextBox 13"/>
          <p:cNvSpPr txBox="1"/>
          <p:nvPr/>
        </p:nvSpPr>
        <p:spPr>
          <a:xfrm>
            <a:off x="338328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5A6A"/>
                </a:solidFill>
                <a:latin typeface="Consolas"/>
              </a:rPr>
              <a:t>Verosimilitud
¿Qué veo?</a:t>
            </a:r>
          </a:p>
        </p:txBody>
      </p:sp>
      <p:sp>
        <p:nvSpPr>
          <p:cNvPr id="18" name="TextBox 15"/>
          <p:cNvSpPr txBox="1"/>
          <p:nvPr/>
        </p:nvSpPr>
        <p:spPr>
          <a:xfrm>
            <a:off x="640080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A5A6A"/>
                </a:solidFill>
                <a:latin typeface="Consolas"/>
              </a:rPr>
              <a:t>Prior
¿</a:t>
            </a:r>
            <a:r>
              <a:rPr sz="1100" b="0" i="0" dirty="0" err="1">
                <a:solidFill>
                  <a:srgbClr val="5A5A6A"/>
                </a:solidFill>
                <a:latin typeface="Consolas"/>
              </a:rPr>
              <a:t>Qué</a:t>
            </a:r>
            <a:r>
              <a:rPr sz="1100" b="0" i="0" dirty="0">
                <a:solidFill>
                  <a:srgbClr val="5A5A6A"/>
                </a:solidFill>
                <a:latin typeface="Consolas"/>
              </a:rPr>
              <a:t> </a:t>
            </a:r>
            <a:r>
              <a:rPr sz="1100" b="0" i="0" dirty="0" err="1">
                <a:solidFill>
                  <a:srgbClr val="5A5A6A"/>
                </a:solidFill>
                <a:latin typeface="Consolas"/>
              </a:rPr>
              <a:t>esperaba</a:t>
            </a:r>
            <a:r>
              <a:rPr sz="1100" b="0" i="0" dirty="0">
                <a:solidFill>
                  <a:srgbClr val="5A5A6A"/>
                </a:solidFill>
                <a:latin typeface="Consolas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neuronales: conexiones y arquitecturas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/home/claude/img_user/feed-for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05840"/>
            <a:ext cx="224028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Feed-forward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8686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pic>
        <p:nvPicPr>
          <p:cNvPr id="9" name="Image 1" descr="/home/claude/img_user/top-dow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9000" y="1005840"/>
            <a:ext cx="224028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Feed-back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3291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86868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pic>
        <p:nvPicPr>
          <p:cNvPr id="13" name="Image 2" descr="/home/claude/img_user/red-recurrent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1005840"/>
            <a:ext cx="2240280" cy="1828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9360" y="32918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Dinámicas complejas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Oscilaciones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conexiones recurrentes superan en número a feedforward y feedback — clave para dinámicas corticales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biología a la computación</a:t>
            </a:r>
            <a:endParaRPr lang="en-US" sz="2800" dirty="0"/>
          </a:p>
        </p:txBody>
      </p:sp>
      <p:pic>
        <p:nvPicPr>
          <p:cNvPr id="4" name="Image 0" descr="/home/claude/img_user/deep-learn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65860"/>
            <a:ext cx="41148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9144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Ingeniería neuronal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3776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Eliasmith &amp; Anderson (2003):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Representación: poblaciones codifican variables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Transformación: sinapsis computan funciones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Dinámica: recurrencia implementa sistemas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2834640"/>
            <a:ext cx="4114800" cy="182880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 de redes biológicas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32461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+ restricciones biológicas.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importa la respuesta promedio: importa la distribución completa de respuestas.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Turing 2018 · Nobel Física 2024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modelos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Cuppini — Echeveste — La brecha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Cuppini: integración audiovisual</a:t>
            </a:r>
            <a:endParaRPr lang="en-US" sz="2600" dirty="0"/>
          </a:p>
        </p:txBody>
      </p:sp>
      <p:pic>
        <p:nvPicPr>
          <p:cNvPr id="4" name="Image 0" descr="/home/claude/img_user/cuppin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914400"/>
            <a:ext cx="34747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914400"/>
            <a:ext cx="54864" cy="1463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7" name="Text 4"/>
          <p:cNvSpPr/>
          <p:nvPr/>
        </p:nvSpPr>
        <p:spPr>
          <a:xfrm>
            <a:off x="5458968" y="10833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0" y="1234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ventrílocuo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causal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biológica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0" y="2560320"/>
            <a:ext cx="34747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560320"/>
            <a:ext cx="54864" cy="146304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27343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28803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(sin ruido)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oscilaciones gamma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variabilidad trial-a-trial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una foto del cerebro en blanco y negro: falta la dinámica"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Echeveste: muestreo cortical</a:t>
            </a:r>
            <a:endParaRPr lang="en-US" sz="2600" dirty="0"/>
          </a:p>
        </p:txBody>
      </p:sp>
      <p:pic>
        <p:nvPicPr>
          <p:cNvPr id="4" name="Image 0" descr="/home/claude/img_user/arquiech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82296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SSN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234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50E + 50I neuronas en anillo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de orientación (−90° a 90°)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dependiente de Δθ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estocástico de proceso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transferencia supralineal</a:t>
            </a:r>
            <a:endParaRPr lang="en-US" sz="1000" dirty="0"/>
          </a:p>
        </p:txBody>
      </p:sp>
      <p:pic>
        <p:nvPicPr>
          <p:cNvPr id="8" name="Image 1" descr="/home/claude/figures/ring_topolog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657600"/>
            <a:ext cx="2286000" cy="1280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0" y="3017520"/>
            <a:ext cx="6126480" cy="182880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0" name="Text 6"/>
          <p:cNvSpPr/>
          <p:nvPr/>
        </p:nvSpPr>
        <p:spPr>
          <a:xfrm>
            <a:off x="2926080" y="31089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Propiedades emergentes (no impuestas!)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26080" y="3566160"/>
            <a:ext cx="228600" cy="228600"/>
          </a:xfrm>
          <a:prstGeom prst="ellipse">
            <a:avLst/>
          </a:prstGeom>
          <a:solidFill>
            <a:srgbClr val="E8428C"/>
          </a:solidFill>
          <a:ln/>
        </p:spPr>
      </p:sp>
      <p:sp>
        <p:nvSpPr>
          <p:cNvPr id="12" name="Text 8"/>
          <p:cNvSpPr/>
          <p:nvPr/>
        </p:nvSpPr>
        <p:spPr>
          <a:xfrm>
            <a:off x="32461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Oscilaciones gamma (30-80 Hz)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43600" y="3566160"/>
            <a:ext cx="228600" cy="228600"/>
          </a:xfrm>
          <a:prstGeom prst="ellipse">
            <a:avLst/>
          </a:prstGeom>
          <a:solidFill>
            <a:srgbClr val="E8428C"/>
          </a:solidFill>
          <a:ln/>
        </p:spPr>
      </p:sp>
      <p:sp>
        <p:nvSpPr>
          <p:cNvPr id="14" name="Text 10"/>
          <p:cNvSpPr/>
          <p:nvPr/>
        </p:nvSpPr>
        <p:spPr>
          <a:xfrm>
            <a:off x="62636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Transitorios inhibitorios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926080" y="4069080"/>
            <a:ext cx="228600" cy="228600"/>
          </a:xfrm>
          <a:prstGeom prst="ellipse">
            <a:avLst/>
          </a:prstGeom>
          <a:solidFill>
            <a:srgbClr val="E8428C"/>
          </a:solidFill>
          <a:ln/>
        </p:spPr>
      </p:sp>
      <p:sp>
        <p:nvSpPr>
          <p:cNvPr id="16" name="Text 12"/>
          <p:cNvSpPr/>
          <p:nvPr/>
        </p:nvSpPr>
        <p:spPr>
          <a:xfrm>
            <a:off x="324612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modulada por contraste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0" y="4069080"/>
            <a:ext cx="228600" cy="228600"/>
          </a:xfrm>
          <a:prstGeom prst="ellipse">
            <a:avLst/>
          </a:prstGeom>
          <a:solidFill>
            <a:srgbClr val="E8428C"/>
          </a:solidFill>
          <a:ln/>
        </p:spPr>
      </p:sp>
      <p:sp>
        <p:nvSpPr>
          <p:cNvPr id="18" name="Text 14"/>
          <p:cNvSpPr/>
          <p:nvPr/>
        </p:nvSpPr>
        <p:spPr>
          <a:xfrm>
            <a:off x="626364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rápida al muestreo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modelo generativo GSM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64592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1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z · A·y + 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parche de imagen  |  z: contraste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filtros de Gabor  |  y: variables latentes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ε: ruido sensorial</a:t>
            </a:r>
            <a:endParaRPr lang="en-US" sz="1000" dirty="0"/>
          </a:p>
        </p:txBody>
      </p:sp>
      <p:pic>
        <p:nvPicPr>
          <p:cNvPr id="7" name="Image 0" descr="/home/claude/img_user/gabor-ban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868680"/>
            <a:ext cx="41148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2743200"/>
            <a:ext cx="8412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Entrenamiento: 15 parámetros libres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2468880" cy="12801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conectividad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amplitudes y anchos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cuadrante E-I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3291840"/>
            <a:ext cx="2468880" cy="1280160"/>
          </a:xfrm>
          <a:prstGeom prst="rect">
            <a:avLst/>
          </a:prstGeom>
          <a:solidFill>
            <a:srgbClr val="9503BD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ruido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747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σE, σI, ρ, dσ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 de ruido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291840"/>
            <a:ext cx="2468880" cy="1280160"/>
          </a:xfrm>
          <a:prstGeom prst="rect">
            <a:avLst/>
          </a:prstGeom>
          <a:solidFill>
            <a:srgbClr val="3D1F6D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entrada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αh, βh, γh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linealidad feedforward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4" name="Oval 3"/>
          <p:cNvSpPr/>
          <p:nvPr/>
        </p:nvSpPr>
        <p:spPr>
          <a:xfrm>
            <a:off x="731520" y="685800"/>
            <a:ext cx="3200400" cy="1828800"/>
          </a:xfrm>
          <a:prstGeom prst="ellipse">
            <a:avLst/>
          </a:prstGeom>
          <a:solidFill>
            <a:srgbClr val="EDE5F7"/>
          </a:solidFill>
          <a:ln w="381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dirty="0" smtClean="0">
                <a:solidFill>
                  <a:srgbClr val="3D1F6D"/>
                </a:solidFill>
                <a:latin typeface="Georgia"/>
              </a:rPr>
              <a:t>Cuppini</a:t>
            </a:r>
            <a:endParaRPr sz="2200" b="1" dirty="0">
              <a:solidFill>
                <a:srgbClr val="3D1F6D"/>
              </a:solidFill>
              <a:latin typeface="Georgia"/>
            </a:endParaRPr>
          </a:p>
          <a:p>
            <a:pPr algn="ctr"/>
            <a:endParaRPr lang="es-AR" sz="1200" dirty="0" smtClean="0">
              <a:solidFill>
                <a:srgbClr val="6B3FA0"/>
              </a:solidFill>
              <a:latin typeface="Calibri"/>
            </a:endParaRPr>
          </a:p>
          <a:p>
            <a:pPr algn="ctr"/>
            <a:r>
              <a:rPr sz="1200" dirty="0" smtClean="0">
                <a:solidFill>
                  <a:srgbClr val="6B3FA0"/>
                </a:solidFill>
                <a:latin typeface="Calibri"/>
              </a:rPr>
              <a:t>Multisensorial</a:t>
            </a:r>
            <a:r>
              <a:rPr sz="1200" dirty="0">
                <a:solidFill>
                  <a:srgbClr val="6B3FA0"/>
                </a:solidFill>
                <a:latin typeface="Calibri"/>
              </a:rPr>
              <a:t>
Determinista</a:t>
            </a:r>
          </a:p>
        </p:txBody>
      </p:sp>
      <p:sp>
        <p:nvSpPr>
          <p:cNvPr id="15" name="Oval 4"/>
          <p:cNvSpPr/>
          <p:nvPr/>
        </p:nvSpPr>
        <p:spPr>
          <a:xfrm>
            <a:off x="5212080" y="685800"/>
            <a:ext cx="3200400" cy="1828800"/>
          </a:xfrm>
          <a:prstGeom prst="ellipse">
            <a:avLst/>
          </a:prstGeom>
          <a:solidFill>
            <a:srgbClr val="FCE4EC"/>
          </a:solidFill>
          <a:ln w="38100">
            <a:solidFill>
              <a:srgbClr val="E84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dirty="0">
                <a:solidFill>
                  <a:srgbClr val="C62828"/>
                </a:solidFill>
                <a:latin typeface="Georgia"/>
              </a:rPr>
              <a:t>Echeveste</a:t>
            </a:r>
          </a:p>
          <a:p>
            <a:pPr algn="ctr"/>
            <a:endParaRPr lang="es-AR" sz="1200" dirty="0" smtClean="0">
              <a:solidFill>
                <a:srgbClr val="E8428C"/>
              </a:solidFill>
              <a:latin typeface="Calibri"/>
            </a:endParaRPr>
          </a:p>
          <a:p>
            <a:pPr algn="ctr"/>
            <a:r>
              <a:rPr sz="1200" dirty="0" smtClean="0">
                <a:solidFill>
                  <a:srgbClr val="E8428C"/>
                </a:solidFill>
                <a:latin typeface="Calibri"/>
              </a:rPr>
              <a:t>Unimodal</a:t>
            </a:r>
            <a:r>
              <a:rPr sz="1200" dirty="0">
                <a:solidFill>
                  <a:srgbClr val="E8428C"/>
                </a:solidFill>
                <a:latin typeface="Calibri"/>
              </a:rPr>
              <a:t>
Estocástico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3931920" y="10515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AAAABB"/>
                </a:solidFill>
                <a:latin typeface="Georgia"/>
              </a:rPr>
              <a:t>?</a:t>
            </a:r>
          </a:p>
        </p:txBody>
      </p:sp>
      <p:sp>
        <p:nvSpPr>
          <p:cNvPr id="17" name="Rounded Rectangle 6"/>
          <p:cNvSpPr/>
          <p:nvPr/>
        </p:nvSpPr>
        <p:spPr>
          <a:xfrm>
            <a:off x="457200" y="2971800"/>
            <a:ext cx="2194560" cy="1371600"/>
          </a:xfrm>
          <a:prstGeom prst="roundRect">
            <a:avLst/>
          </a:prstGeom>
          <a:solidFill>
            <a:srgbClr val="EDE5F7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3D1F6D"/>
                </a:solidFill>
                <a:latin typeface="Georgia"/>
              </a:rPr>
              <a:t>Cuppini
(multisensorial)</a:t>
            </a:r>
          </a:p>
        </p:txBody>
      </p:sp>
      <p:sp>
        <p:nvSpPr>
          <p:cNvPr id="18" name="Rounded Rectangle 7"/>
          <p:cNvSpPr/>
          <p:nvPr/>
        </p:nvSpPr>
        <p:spPr>
          <a:xfrm>
            <a:off x="3474720" y="2971800"/>
            <a:ext cx="2194560" cy="13716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84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E8428C"/>
                </a:solidFill>
                <a:latin typeface="Georgia"/>
              </a:rPr>
              <a:t>Echeveste
(dinámicas)</a:t>
            </a:r>
          </a:p>
        </p:txBody>
      </p:sp>
      <p:sp>
        <p:nvSpPr>
          <p:cNvPr id="19" name="Rounded Rectangle 8"/>
          <p:cNvSpPr/>
          <p:nvPr/>
        </p:nvSpPr>
        <p:spPr>
          <a:xfrm>
            <a:off x="6492240" y="2971800"/>
            <a:ext cx="2194560" cy="1371600"/>
          </a:xfrm>
          <a:prstGeom prst="roundRect">
            <a:avLst/>
          </a:prstGeom>
          <a:solidFill>
            <a:srgbClr val="E0D5F0"/>
          </a:solidFill>
          <a:ln w="25400">
            <a:solidFill>
              <a:srgbClr val="3D1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D1F6D"/>
                </a:solidFill>
                <a:latin typeface="Georgia"/>
              </a:rPr>
              <a:t>Modelo
futuro</a:t>
            </a:r>
          </a:p>
        </p:txBody>
      </p:sp>
      <p:sp>
        <p:nvSpPr>
          <p:cNvPr id="20" name="TextBox 9"/>
          <p:cNvSpPr txBox="1"/>
          <p:nvPr/>
        </p:nvSpPr>
        <p:spPr>
          <a:xfrm>
            <a:off x="2697480" y="3246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2E"/>
                </a:solidFill>
                <a:latin typeface="Calibri"/>
              </a:rPr>
              <a:t>+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5715000" y="3246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2E"/>
                </a:solidFill>
                <a:latin typeface="Calibri"/>
              </a:rPr>
              <a:t>=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Scikit-NeuroMSI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la implementación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 OCaml a Python/JAX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Scikit-NeuroMSI</a:t>
            </a:r>
            <a:endParaRPr lang="en-US" sz="2800" dirty="0"/>
          </a:p>
        </p:txBody>
      </p:sp>
      <p:pic>
        <p:nvPicPr>
          <p:cNvPr id="4" name="Image 0" descr="/home/claude/figures/neuromsi_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68680"/>
            <a:ext cx="3383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68680"/>
            <a:ext cx="54864" cy="7315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886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base abstracta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SKNMSIMethodABC — interfaz estándar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737360"/>
            <a:ext cx="3383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737360"/>
            <a:ext cx="54864" cy="7315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755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NDResult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multidimensionales (XArray)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606040"/>
            <a:ext cx="3383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606040"/>
            <a:ext cx="54864" cy="7315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624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incluidos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MLE, Bayes, Cuppini, + Echeveste (nuevo)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474720"/>
            <a:ext cx="3383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BA"/>
            </a:solidFill>
            <a:prstDash val="solid"/>
          </a:ln>
          <a:effectLst>
            <a:outerShdw blurRad="50800" dist="254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474720"/>
            <a:ext cx="54864" cy="7315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4930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Visualización, barrido de parámetros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scikit-neuromsi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software</a:t>
            </a:r>
            <a:endParaRPr lang="en-US" sz="2800" dirty="0"/>
          </a:p>
        </p:txBody>
      </p:sp>
      <p:pic>
        <p:nvPicPr>
          <p:cNvPr id="4" name="Image 0" descr="/home/claude/figures/uml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01_class_diagram_simplified.png"/>
          <p:cNvSpPr>
            <a:spLocks noChangeAspect="1" noChangeArrowheads="1"/>
          </p:cNvSpPr>
          <p:nvPr/>
        </p:nvSpPr>
        <p:spPr bwMode="auto">
          <a:xfrm>
            <a:off x="2460624" y="471487"/>
            <a:ext cx="3908425" cy="390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741" y="134777"/>
            <a:ext cx="5330190" cy="47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9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implementamos?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4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Reimplementación completa: OCaml → Python/JAX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generativo GSM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Gabor, estímulos, momentos objetivo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Integrador SSN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neuronal, activación supralineal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Conectividad en anillo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Parametrización circulante, principio de Dale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entrenamiento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+ L-BFGS-B, función de costo 4 términos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84048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Visualización y análisis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Potenciales, espectros, transitorios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840480"/>
            <a:ext cx="457200" cy="45720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Cargador de datos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pre-entrenados del paper original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 en dos fases</a:t>
            </a:r>
            <a:endParaRPr lang="en-US" sz="2800" dirty="0"/>
          </a:p>
        </p:txBody>
      </p:sp>
      <p:sp>
        <p:nvSpPr>
          <p:cNvPr id="7" name="Rounded Rectangle 3"/>
          <p:cNvSpPr/>
          <p:nvPr/>
        </p:nvSpPr>
        <p:spPr>
          <a:xfrm>
            <a:off x="457200" y="914400"/>
            <a:ext cx="3840480" cy="1645920"/>
          </a:xfrm>
          <a:prstGeom prst="roundRect">
            <a:avLst/>
          </a:prstGeom>
          <a:solidFill>
            <a:srgbClr val="EDE5F7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3D1F6D"/>
                </a:solidFill>
                <a:latin typeface="Georgia"/>
              </a:rPr>
              <a:t>Fase 1: ADAM</a:t>
            </a:r>
          </a:p>
          <a:p>
            <a:pPr algn="ctr"/>
            <a:endParaRPr lang="es-AR" sz="1100" dirty="0" smtClean="0">
              <a:solidFill>
                <a:srgbClr val="5A5A6A"/>
              </a:solidFill>
              <a:latin typeface="Calibri"/>
            </a:endParaRPr>
          </a:p>
          <a:p>
            <a:pPr algn="ctr"/>
            <a:r>
              <a:rPr sz="1100" dirty="0" smtClean="0">
                <a:solidFill>
                  <a:srgbClr val="5A5A6A"/>
                </a:solidFill>
                <a:latin typeface="Calibri"/>
              </a:rPr>
              <a:t>250 </a:t>
            </a:r>
            <a:r>
              <a:rPr sz="1100" dirty="0">
                <a:solidFill>
                  <a:srgbClr val="5A5A6A"/>
                </a:solidFill>
                <a:latin typeface="Calibri"/>
              </a:rPr>
              <a:t>iteraciones
Gradiente estocástico
50 trials/</a:t>
            </a:r>
            <a:r>
              <a:rPr sz="1100" dirty="0" err="1">
                <a:solidFill>
                  <a:srgbClr val="5A5A6A"/>
                </a:solidFill>
                <a:latin typeface="Calibri"/>
              </a:rPr>
              <a:t>estímulo</a:t>
            </a:r>
            <a:endParaRPr sz="1100" dirty="0">
              <a:solidFill>
                <a:srgbClr val="5A5A6A"/>
              </a:solidFill>
              <a:latin typeface="Calibri"/>
            </a:endParaRPr>
          </a:p>
        </p:txBody>
      </p:sp>
      <p:sp>
        <p:nvSpPr>
          <p:cNvPr id="8" name="Right Arrow 4"/>
          <p:cNvSpPr/>
          <p:nvPr/>
        </p:nvSpPr>
        <p:spPr>
          <a:xfrm>
            <a:off x="4389120" y="1463040"/>
            <a:ext cx="548640" cy="365760"/>
          </a:xfrm>
          <a:prstGeom prst="rightArrow">
            <a:avLst/>
          </a:prstGeom>
          <a:solidFill>
            <a:srgbClr val="C08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/>
          <p:cNvSpPr/>
          <p:nvPr/>
        </p:nvSpPr>
        <p:spPr>
          <a:xfrm>
            <a:off x="5029200" y="914400"/>
            <a:ext cx="3840480" cy="1645920"/>
          </a:xfrm>
          <a:prstGeom prst="roundRect">
            <a:avLst/>
          </a:prstGeom>
          <a:solidFill>
            <a:srgbClr val="3D1F6D"/>
          </a:solidFill>
          <a:ln w="25400">
            <a:solidFill>
              <a:srgbClr val="3D1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Georgia"/>
              </a:rPr>
              <a:t>Fase 2: L-BFGS-B</a:t>
            </a:r>
          </a:p>
          <a:p>
            <a:pPr algn="ctr"/>
            <a:endParaRPr lang="es-AR" sz="1100" dirty="0" smtClean="0">
              <a:solidFill>
                <a:srgbClr val="D0C0E8"/>
              </a:solidFill>
              <a:latin typeface="Calibri"/>
            </a:endParaRPr>
          </a:p>
          <a:p>
            <a:pPr algn="ctr"/>
            <a:r>
              <a:rPr sz="1100" dirty="0" smtClean="0">
                <a:solidFill>
                  <a:srgbClr val="D0C0E8"/>
                </a:solidFill>
                <a:latin typeface="Calibri"/>
              </a:rPr>
              <a:t>Gradiente </a:t>
            </a:r>
            <a:r>
              <a:rPr sz="1100" dirty="0" err="1">
                <a:solidFill>
                  <a:srgbClr val="D0C0E8"/>
                </a:solidFill>
                <a:latin typeface="Calibri"/>
              </a:rPr>
              <a:t>determinístico</a:t>
            </a:r>
            <a:r>
              <a:rPr sz="1100" dirty="0">
                <a:solidFill>
                  <a:srgbClr val="D0C0E8"/>
                </a:solidFill>
                <a:latin typeface="Calibri"/>
              </a:rPr>
              <a:t>
Assumed Density Filtering
</a:t>
            </a:r>
            <a:r>
              <a:rPr sz="1100" dirty="0" err="1">
                <a:solidFill>
                  <a:srgbClr val="D0C0E8"/>
                </a:solidFill>
                <a:latin typeface="Calibri"/>
              </a:rPr>
              <a:t>Convergencia</a:t>
            </a:r>
            <a:r>
              <a:rPr sz="1100" dirty="0">
                <a:solidFill>
                  <a:srgbClr val="D0C0E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D0C0E8"/>
                </a:solidFill>
                <a:latin typeface="Calibri"/>
              </a:rPr>
              <a:t>fina</a:t>
            </a:r>
            <a:endParaRPr sz="1100" dirty="0">
              <a:solidFill>
                <a:srgbClr val="D0C0E8"/>
              </a:solidFill>
              <a:latin typeface="Calibri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D1F6D"/>
                </a:solidFill>
                <a:latin typeface="Georgia"/>
              </a:rPr>
              <a:t>Función de costo</a:t>
            </a:r>
          </a:p>
        </p:txBody>
      </p:sp>
      <p:sp>
        <p:nvSpPr>
          <p:cNvPr id="11" name="Rounded Rectangle 7"/>
          <p:cNvSpPr/>
          <p:nvPr/>
        </p:nvSpPr>
        <p:spPr>
          <a:xfrm>
            <a:off x="274320" y="3337560"/>
            <a:ext cx="1965960" cy="137160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Media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D0C0E8"/>
                </a:solidFill>
                <a:latin typeface="Consolas"/>
              </a:rPr>
              <a:t>μ_red ≈ μ_GSM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2240279" y="3703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5A6A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468879" y="3337560"/>
            <a:ext cx="1965960" cy="1371600"/>
          </a:xfrm>
          <a:prstGeom prst="roundRect">
            <a:avLst/>
          </a:prstGeom>
          <a:solidFill>
            <a:srgbClr val="8B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Varianza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D0C0E8"/>
                </a:solidFill>
                <a:latin typeface="Consolas"/>
              </a:rPr>
              <a:t>σ²_red ≈ σ²_GSM</a:t>
            </a:r>
          </a:p>
        </p:txBody>
      </p:sp>
      <p:sp>
        <p:nvSpPr>
          <p:cNvPr id="14" name="TextBox 10"/>
          <p:cNvSpPr txBox="1"/>
          <p:nvPr/>
        </p:nvSpPr>
        <p:spPr>
          <a:xfrm>
            <a:off x="4434840" y="3703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5A6A"/>
                </a:solidFill>
                <a:latin typeface="Calibri"/>
              </a:rPr>
              <a:t>+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4663440" y="3337560"/>
            <a:ext cx="1965960" cy="1371600"/>
          </a:xfrm>
          <a:prstGeom prst="roundRect">
            <a:avLst/>
          </a:prstGeom>
          <a:solidFill>
            <a:srgbClr val="C08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Covarianza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D0C0E8"/>
                </a:solidFill>
                <a:latin typeface="Consolas"/>
              </a:rPr>
              <a:t>Σ_red ≈ Σ_GSM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6629400" y="3703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5A6A"/>
                </a:solidFill>
                <a:latin typeface="Calibri"/>
              </a:rPr>
              <a:t>+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6857999" y="3337560"/>
            <a:ext cx="1965960" cy="1371600"/>
          </a:xfrm>
          <a:prstGeom prst="roundRect">
            <a:avLst/>
          </a:prstGeom>
          <a:solidFill>
            <a:srgbClr val="3D1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Velocidad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D0C0E8"/>
                </a:solidFill>
                <a:latin typeface="Consolas"/>
              </a:rPr>
              <a:t>Corr(t, t+τ) →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exhaustiva de la implementación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Equivalencia numérica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0" cy="27432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030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~10⁻¹⁵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máximo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funciones · 10.000 muestras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9144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914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Normal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1887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46520" y="9144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914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Neuronal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1887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16002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ν, 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6002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8745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22860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25603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2860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2860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O-U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25603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9718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2971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Posterior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3246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46520" y="2971800"/>
            <a:ext cx="2331720" cy="548640"/>
          </a:xfrm>
          <a:prstGeom prst="rect">
            <a:avLst/>
          </a:prstGeom>
          <a:solidFill>
            <a:srgbClr val="EDE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971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Auxiliares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3246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0.00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8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dos implementaciones dan exactamente el mismo resultado"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Entrenamiento robusto: 100 corridas</a:t>
            </a:r>
            <a:endParaRPr lang="en-US" sz="2800" dirty="0"/>
          </a:p>
        </p:txBody>
      </p:sp>
      <p:pic>
        <p:nvPicPr>
          <p:cNvPr id="4" name="Image 0" descr="/home/claude/figures/noise_converg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 poblacional</a:t>
            </a:r>
            <a:endParaRPr lang="en-US" sz="2800" dirty="0"/>
          </a:p>
        </p:txBody>
      </p:sp>
      <p:pic>
        <p:nvPicPr>
          <p:cNvPr id="4" name="Image 0" descr="/home/claude/figures/population_activ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Convergencia de momentos</a:t>
            </a:r>
            <a:endParaRPr lang="en-US" sz="2800" dirty="0"/>
          </a:p>
        </p:txBody>
      </p:sp>
      <p:pic>
        <p:nvPicPr>
          <p:cNvPr id="4" name="Image 0" descr="/home/claude/figures/moments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1F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Oscilaciones gamma emergentes</a:t>
            </a:r>
            <a:endParaRPr lang="en-US" sz="2800" dirty="0"/>
          </a:p>
        </p:txBody>
      </p:sp>
      <p:pic>
        <p:nvPicPr>
          <p:cNvPr id="4" name="Image 0" descr="/home/claude/figures/gamma_oscill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372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trabajo futuro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54864" cy="411480"/>
          </a:xfrm>
          <a:prstGeom prst="rect">
            <a:avLst/>
          </a:prstGeom>
          <a:solidFill>
            <a:srgbClr val="C084D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Reimplementación completa OCaml → Python/JAX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54864" cy="411480"/>
          </a:xfrm>
          <a:prstGeom prst="rect">
            <a:avLst/>
          </a:prstGeom>
          <a:solidFill>
            <a:srgbClr val="C084D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77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Equivalencia numérica (~10⁻¹⁵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54864" cy="411480"/>
          </a:xfrm>
          <a:prstGeom prst="rect">
            <a:avLst/>
          </a:prstGeom>
          <a:solidFill>
            <a:srgbClr val="C084D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corridas independientes confirman robustez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54864" cy="411480"/>
          </a:xfrm>
          <a:prstGeom prst="rect">
            <a:avLst/>
          </a:prstGeom>
          <a:solidFill>
            <a:srgbClr val="C08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emergentes reproducidas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6230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 futuro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2125980"/>
            <a:ext cx="228600" cy="228600"/>
          </a:xfrm>
          <a:prstGeom prst="ellipse">
            <a:avLst/>
          </a:prstGeom>
          <a:solidFill>
            <a:srgbClr val="C08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20802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Fusionar Cuppini + Echeveste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628900"/>
            <a:ext cx="228600" cy="228600"/>
          </a:xfrm>
          <a:prstGeom prst="ellipse">
            <a:avLst/>
          </a:prstGeom>
          <a:solidFill>
            <a:srgbClr val="C08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5831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Estímulos no entrenados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131820"/>
            <a:ext cx="228600" cy="228600"/>
          </a:xfrm>
          <a:prstGeom prst="ellipse">
            <a:avLst/>
          </a:prstGeom>
          <a:solidFill>
            <a:srgbClr val="C084D8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30861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control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3634740"/>
            <a:ext cx="228600" cy="228600"/>
          </a:xfrm>
          <a:prstGeom prst="ellipse">
            <a:avLst/>
          </a:prstGeom>
          <a:solidFill>
            <a:srgbClr val="C08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35890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electrofisiológicos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06351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D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2" name="Shape 20"/>
          <p:cNvSpPr/>
          <p:nvPr/>
        </p:nvSpPr>
        <p:spPr>
          <a:xfrm>
            <a:off x="1593850" y="1498600"/>
            <a:ext cx="5575300" cy="21463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3" name="Text 21"/>
          <p:cNvSpPr/>
          <p:nvPr/>
        </p:nvSpPr>
        <p:spPr>
          <a:xfrm>
            <a:off x="1593850" y="1811020"/>
            <a:ext cx="5575300" cy="1155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6600" dirty="0"/>
          </a:p>
        </p:txBody>
      </p:sp>
      <p:sp>
        <p:nvSpPr>
          <p:cNvPr id="24" name="Text 22"/>
          <p:cNvSpPr/>
          <p:nvPr/>
        </p:nvSpPr>
        <p:spPr>
          <a:xfrm>
            <a:off x="1593850" y="2783840"/>
            <a:ext cx="55753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Molina · FaMAF · UNC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1078</Words>
  <Application>Microsoft Office PowerPoint</Application>
  <PresentationFormat>Presentación en pantalla (16:9)</PresentationFormat>
  <Paragraphs>302</Paragraphs>
  <Slides>31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Msi GF65</cp:lastModifiedBy>
  <cp:revision>10</cp:revision>
  <dcterms:created xsi:type="dcterms:W3CDTF">2026-03-04T19:39:35Z</dcterms:created>
  <dcterms:modified xsi:type="dcterms:W3CDTF">2026-03-06T19:47:35Z</dcterms:modified>
</cp:coreProperties>
</file>